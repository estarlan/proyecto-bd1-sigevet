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7d3c3cc60244b4" /><Relationship Type="http://schemas.openxmlformats.org/officeDocument/2006/relationships/extended-properties" Target="/docProps/app.xml" Id="Ra8bdd7f74a2b4ae1" /><Relationship Type="http://schemas.openxmlformats.org/officeDocument/2006/relationships/officeDocument" Target="/ppt/presentation.xml" Id="Rc99eeb278c8d44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98f7789f4747bc"/>
  </p:sldMasterIdLst>
  <p:notesMasterIdLst>
    <p:notesMasterId xmlns:r="http://schemas.openxmlformats.org/officeDocument/2006/relationships" r:id="R5350558968d34fe4"/>
  </p:notesMasterIdLst>
  <p:sldIdLst>
    <p:sldId xmlns:r="http://schemas.openxmlformats.org/officeDocument/2006/relationships" id="256" r:id="Rf3f69362c6124ba4"/>
    <p:sldId xmlns:r="http://schemas.openxmlformats.org/officeDocument/2006/relationships" id="257" r:id="R9c98f5ebd5a74c6b"/>
    <p:sldId xmlns:r="http://schemas.openxmlformats.org/officeDocument/2006/relationships" id="258" r:id="R33ca04d7a5ec4825"/>
    <p:sldId xmlns:r="http://schemas.openxmlformats.org/officeDocument/2006/relationships" id="259" r:id="R692a6dd454f443c2"/>
    <p:sldId xmlns:r="http://schemas.openxmlformats.org/officeDocument/2006/relationships" id="260" r:id="R7fabf6e0eb9d4a78"/>
    <p:sldId xmlns:r="http://schemas.openxmlformats.org/officeDocument/2006/relationships" id="261" r:id="R87c9d0d0953b498a"/>
    <p:sldId xmlns:r="http://schemas.openxmlformats.org/officeDocument/2006/relationships" id="262" r:id="R13b3a7ab38484b31"/>
    <p:sldId xmlns:r="http://schemas.openxmlformats.org/officeDocument/2006/relationships" id="263" r:id="R2246f31518e74e26"/>
    <p:sldId xmlns:r="http://schemas.openxmlformats.org/officeDocument/2006/relationships" id="264" r:id="Rb625ad32dedf4402"/>
    <p:sldId xmlns:r="http://schemas.openxmlformats.org/officeDocument/2006/relationships" id="265" r:id="R8e353b7d2b0e4c2d"/>
    <p:sldId xmlns:r="http://schemas.openxmlformats.org/officeDocument/2006/relationships" id="266" r:id="R971f7299e68b4709"/>
    <p:sldId xmlns:r="http://schemas.openxmlformats.org/officeDocument/2006/relationships" id="267" r:id="Rf38334090eab47f2"/>
    <p:sldId xmlns:r="http://schemas.openxmlformats.org/officeDocument/2006/relationships" id="268" r:id="R198cd022b5fb4576"/>
    <p:sldId xmlns:r="http://schemas.openxmlformats.org/officeDocument/2006/relationships" id="269" r:id="R466718d5ec4f4eee"/>
    <p:sldId xmlns:r="http://schemas.openxmlformats.org/officeDocument/2006/relationships" id="270" r:id="Ra5833abfd88b42b1"/>
  </p:sldIdLst>
  <p:sldSz cx="12191695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c39cb821474713" /><Relationship Type="http://schemas.openxmlformats.org/officeDocument/2006/relationships/slideMaster" Target="/ppt/slideMasters/slideMaster1.xml" Id="Rd398f7789f4747bc" /><Relationship Type="http://schemas.openxmlformats.org/officeDocument/2006/relationships/notesMaster" Target="/ppt/notesMasters/notesMaster1.xml" Id="R5350558968d34fe4" /><Relationship Type="http://schemas.openxmlformats.org/officeDocument/2006/relationships/presProps" Target="/ppt/presProps.xml" Id="R7bc5e349d5554a73" /><Relationship Type="http://schemas.openxmlformats.org/officeDocument/2006/relationships/viewProps" Target="/ppt/viewProps.xml" Id="R84fe82299bba4648" /><Relationship Type="http://schemas.openxmlformats.org/officeDocument/2006/relationships/tableStyles" Target="/ppt/tableStyles.xml" Id="R0de9887afc934275" /><Relationship Type="http://schemas.openxmlformats.org/officeDocument/2006/relationships/slide" Target="/ppt/slides/slide1.xml" Id="Rf3f69362c6124ba4" /><Relationship Type="http://schemas.openxmlformats.org/officeDocument/2006/relationships/slide" Target="/ppt/slides/slide2.xml" Id="R9c98f5ebd5a74c6b" /><Relationship Type="http://schemas.openxmlformats.org/officeDocument/2006/relationships/slide" Target="/ppt/slides/slide3.xml" Id="R33ca04d7a5ec4825" /><Relationship Type="http://schemas.openxmlformats.org/officeDocument/2006/relationships/slide" Target="/ppt/slides/slide4.xml" Id="R692a6dd454f443c2" /><Relationship Type="http://schemas.openxmlformats.org/officeDocument/2006/relationships/slide" Target="/ppt/slides/slide5.xml" Id="R7fabf6e0eb9d4a78" /><Relationship Type="http://schemas.openxmlformats.org/officeDocument/2006/relationships/slide" Target="/ppt/slides/slide6.xml" Id="R87c9d0d0953b498a" /><Relationship Type="http://schemas.openxmlformats.org/officeDocument/2006/relationships/slide" Target="/ppt/slides/slide7.xml" Id="R13b3a7ab38484b31" /><Relationship Type="http://schemas.openxmlformats.org/officeDocument/2006/relationships/slide" Target="/ppt/slides/slide8.xml" Id="R2246f31518e74e26" /><Relationship Type="http://schemas.openxmlformats.org/officeDocument/2006/relationships/slide" Target="/ppt/slides/slide9.xml" Id="Rb625ad32dedf4402" /><Relationship Type="http://schemas.openxmlformats.org/officeDocument/2006/relationships/slide" Target="/ppt/slides/slide10.xml" Id="R8e353b7d2b0e4c2d" /><Relationship Type="http://schemas.openxmlformats.org/officeDocument/2006/relationships/slide" Target="/ppt/slides/slide11.xml" Id="R971f7299e68b4709" /><Relationship Type="http://schemas.openxmlformats.org/officeDocument/2006/relationships/slide" Target="/ppt/slides/slide12.xml" Id="Rf38334090eab47f2" /><Relationship Type="http://schemas.openxmlformats.org/officeDocument/2006/relationships/slide" Target="/ppt/slides/slide13.xml" Id="R198cd022b5fb4576" /><Relationship Type="http://schemas.openxmlformats.org/officeDocument/2006/relationships/slide" Target="/ppt/slides/slide14.xml" Id="R466718d5ec4f4eee" /><Relationship Type="http://schemas.openxmlformats.org/officeDocument/2006/relationships/slide" Target="/ppt/slides/slide15.xml" Id="Ra5833abfd88b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53cc67e7f847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864bed9f6a40ec" /><Relationship Type="http://schemas.openxmlformats.org/officeDocument/2006/relationships/notesMaster" Target="/ppt/notesMasters/notesMaster1.xml" Id="Rcbde7dc81f6741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87f311a6704f77" /><Relationship Type="http://schemas.openxmlformats.org/officeDocument/2006/relationships/notesMaster" Target="/ppt/notesMasters/notesMaster1.xml" Id="R0500a497480c49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737e42cd694501" /><Relationship Type="http://schemas.openxmlformats.org/officeDocument/2006/relationships/notesMaster" Target="/ppt/notesMasters/notesMaster1.xml" Id="Rb1ae1f320a5d4d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99a789904441c" /><Relationship Type="http://schemas.openxmlformats.org/officeDocument/2006/relationships/notesMaster" Target="/ppt/notesMasters/notesMaster1.xml" Id="Rc98eff3aba5245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9b9442ffc3437c" /><Relationship Type="http://schemas.openxmlformats.org/officeDocument/2006/relationships/notesMaster" Target="/ppt/notesMasters/notesMaster1.xml" Id="Rbfba8c47c66243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431be3c1774090" /><Relationship Type="http://schemas.openxmlformats.org/officeDocument/2006/relationships/notesMaster" Target="/ppt/notesMasters/notesMaster1.xml" Id="R86ba96291a3543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95a325300742e8" /><Relationship Type="http://schemas.openxmlformats.org/officeDocument/2006/relationships/notesMaster" Target="/ppt/notesMasters/notesMaster1.xml" Id="R6a4325fe7df942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e2cb9b8c424cef" /><Relationship Type="http://schemas.openxmlformats.org/officeDocument/2006/relationships/notesMaster" Target="/ppt/notesMasters/notesMaster1.xml" Id="R763b482c019a48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a924dc3df34355" /><Relationship Type="http://schemas.openxmlformats.org/officeDocument/2006/relationships/notesMaster" Target="/ppt/notesMasters/notesMaster1.xml" Id="R48b5aaf339dc4a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aa845b592f4d3a" /><Relationship Type="http://schemas.openxmlformats.org/officeDocument/2006/relationships/notesMaster" Target="/ppt/notesMasters/notesMaster1.xml" Id="R5f8a2c7b2dbf44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be93eaffb47d7" /><Relationship Type="http://schemas.openxmlformats.org/officeDocument/2006/relationships/notesMaster" Target="/ppt/notesMasters/notesMaster1.xml" Id="R8b6c91b6dc0f4c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5cdbd5a8d545f9" /><Relationship Type="http://schemas.openxmlformats.org/officeDocument/2006/relationships/notesMaster" Target="/ppt/notesMasters/notesMaster1.xml" Id="Raf74b794ffb740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308c8fff594842" /><Relationship Type="http://schemas.openxmlformats.org/officeDocument/2006/relationships/notesMaster" Target="/ppt/notesMasters/notesMaster1.xml" Id="Re06c4bb8eb3b45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efee5bd37e438b" /><Relationship Type="http://schemas.openxmlformats.org/officeDocument/2006/relationships/notesMaster" Target="/ppt/notesMasters/notesMaster1.xml" Id="Rc1bfb5ede6a342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154b76efee4572" /><Relationship Type="http://schemas.openxmlformats.org/officeDocument/2006/relationships/notesMaster" Target="/ppt/notesMasters/notesMaster1.xml" Id="Rd1b136c1c43a4d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proyecto SIGEVET: sistema de gestión para una red de clínicas veterinarias simulada.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red tiene cinco sedes y cada una trabajaba con sus propios datos. Eso genera citas cruzadas, historias incompletas y poca visibilidad del negocio.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alcance cubre desde las sedes hasta la facturación. Quedan fuera los temas contables y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modelo conceptual en notación de Peter Chen tiene 18 entidades y 26 relaciones. DETALLE_FACTURA es la entidad débil.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EMPLEADO se especializa en VETERINARIO y AUXILIAR. La especialización es disyunta y parcial.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modelo lógico en notación Barker muestra las 22 tablas con sus atributos y la obligatoriedad de cada relación.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mismo esquema en notación Crow's Foot, donde los símbolos de cada extremo indican el mínimo y el máximo.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modelo relacional resultante tiene 22 tablas y 30 llaves foráneas. Cada relación N:M se convierte en una tabla.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Partimos de una orden de atención y factura sin normalizar y llegamos a 3FN, que da como resultado las tablas del modelo relacional.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base de datos está en MySQL 8.4 LTS con InnoDB. Las reglas de negocio que CHECK no alcanza se validan con disparadores.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servidor Linux con Fedora aloja la máquina virtual con Oracle Linux 9. Dentro de la VM corren MySQL y la aplicación web. Todo se instala con un solo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aplicación web es de solo lectura. Usa Spring Boot y JDBC con SQL escrito a mano; no usa ORM, JPA ni Hibernate.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Persona es una clase abstracta. Cliente y Empleado heredan de ella, y Veterinario y Auxiliar heredan de Empleado. La página de personal llama a getDescripcion() y cada objeto responde con su 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55 ejercicios de álgebra relacional se escribieron también en SQL y se ejecutaron en MySQL con el mismo resultado que en la Fase 1. El ejercicio 41 es una división.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del proyecto y paso a la demostración en vivo.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5b274285045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fdd5324b8c4d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26def65044be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e4159509f43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6485f0e2ed46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3464521e941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d97a3e32b844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c8d9300d9402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1d0928b13471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efd4e717f4f5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548d24f83429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9BC4C-6FA4-464C-837B-08C54F03EC4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B3B06A5-EE8D-4FF3-9943-556D22474E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9062B6-421D-4595-A94C-1A1B20181D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C6F96F-0A50-494D-841B-CE0D00CF74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D644AB-8FFA-4C50-97F8-2D79765185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965913-3436-4134-BDC1-C84A9A853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3D41F76-8C22-4787-8E8B-269FA82066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07522C-BA20-4349-ABB8-00C4512AD4B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8A28A4-3985-43E7-ABFC-F549C5ADD5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53956A-D4CA-4ED6-937B-9030F1330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9F7B26-5E5E-4CB8-A5BF-E52838A51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6B89CE-D68C-4BFF-A557-753A45A98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82DD703-B1E4-4996-B8A1-DC609575ED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554462-A0A2-4838-A6DD-F173C6CABA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F290B3-2796-490F-939B-C0282C3050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CFB9F3-8E80-4204-914D-40C62D793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05BD62F-9390-48D4-8E19-AFF2C46CCE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85576D2-7029-4FD5-88D1-46C2B11EEE7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12CE4D-A7A7-4BAA-A0A5-7F111DED20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7B68F5-3692-4CE8-96F6-38BB933834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2D53188-3D6C-47F9-A51D-B64C7337A1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4144CD-CADD-40B3-A902-CD1D1E0C3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2AEE44A-ED1A-4C50-A225-3B55404634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67B5A9B-AF1A-4F22-A152-AB6CE793EA9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C865CF4-C5C7-4C92-8381-E353CD64F9D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E00332-30EF-4110-8BAF-95AFBCD3316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83B9C6E-0FE7-4888-B87C-4F92AD8104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DA1A499-EC10-4197-8BE7-0B6D2775E5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F106052-D463-46C1-A4D2-9D7C9AAD0F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1069DC-EE47-47DA-99C2-927FFB6DE7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792E948-6FC4-4A89-85B2-F7AE7A67A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84FB675-649D-4665-B632-2534263B6F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36F14E6-119E-45DA-9CD3-16E33D835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E53EEF9-47CE-4D91-8879-198B879C25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125F74B-B845-410A-B6E1-16F8D52207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7BF2EF-6E4E-4E85-8775-E684AE41DB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D3697D-B9CD-448E-9840-CB841F07FF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594C96-F54D-4E5E-8E38-DC81376F8E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7B80B7B-993D-4B57-A894-C28C482B2B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22DBFAD-5136-4233-A3D2-BC9BBA17CE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8BB0A86-790B-4852-A077-9D581D3293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96A97B2-AD1A-4411-BBC3-BBAFC6231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4D8AF2-DD75-4F8B-B2F0-4357B3FB2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E0B90C-E7AA-48FA-9762-610F0446328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F36116F-DA13-49E3-BB10-06F4AF2CA9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21662D8-B786-4FFB-88D3-B35CB5C813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E46EBA-FB69-476A-88A1-8B2244313B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F67E4CB-DDCD-4CA5-A501-8CBCB9C35E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3F25C96-8DF8-4200-B32D-2CC48EA911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AAA113-BF73-4830-B1D3-7D8117BC81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1172A70-BA51-4D91-B261-B93AB7E99B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B6C936-7FC7-4546-AB2E-31A8AC4429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5E700F-EF2E-410D-A205-D3649D7068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3A0FD9F2-894E-4597-A395-1A01FD6F0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F095157-D73B-43C7-8324-333FCAF3DB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44A189-0B1F-4C05-82B7-7896642C66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328BF-E967-4BCA-886F-0DB2DB1BEB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950C-1B5A-4332-862D-D26521FD2F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f1330027864b75" /><Relationship Type="http://schemas.openxmlformats.org/officeDocument/2006/relationships/slideLayout" Target="/ppt/slideLayouts/slideLayout1.xml" Id="R51a8f30f81f54421" /><Relationship Type="http://schemas.openxmlformats.org/officeDocument/2006/relationships/slideLayout" Target="/ppt/slideLayouts/slideLayout2.xml" Id="Re8fe7d38eccd446d" /><Relationship Type="http://schemas.openxmlformats.org/officeDocument/2006/relationships/slideLayout" Target="/ppt/slideLayouts/slideLayout3.xml" Id="R2057382193334e6e" /><Relationship Type="http://schemas.openxmlformats.org/officeDocument/2006/relationships/slideLayout" Target="/ppt/slideLayouts/slideLayout4.xml" Id="R6eb8ae4bd1244b10" /><Relationship Type="http://schemas.openxmlformats.org/officeDocument/2006/relationships/slideLayout" Target="/ppt/slideLayouts/slideLayout5.xml" Id="R087a86fef3624305" /><Relationship Type="http://schemas.openxmlformats.org/officeDocument/2006/relationships/slideLayout" Target="/ppt/slideLayouts/slideLayout6.xml" Id="R77a17a5054774ece" /><Relationship Type="http://schemas.openxmlformats.org/officeDocument/2006/relationships/slideLayout" Target="/ppt/slideLayouts/slideLayout7.xml" Id="R93efeeb90d1e4416" /><Relationship Type="http://schemas.openxmlformats.org/officeDocument/2006/relationships/slideLayout" Target="/ppt/slideLayouts/slideLayout8.xml" Id="R998dcb1a298c4595" /><Relationship Type="http://schemas.openxmlformats.org/officeDocument/2006/relationships/slideLayout" Target="/ppt/slideLayouts/slideLayout9.xml" Id="Rfe699400bb7647f9" /><Relationship Type="http://schemas.openxmlformats.org/officeDocument/2006/relationships/slideLayout" Target="/ppt/slideLayouts/slideLayout10.xml" Id="Rab95a171f09b478c" /><Relationship Type="http://schemas.openxmlformats.org/officeDocument/2006/relationships/slideLayout" Target="/ppt/slideLayouts/slideLayout11.xml" Id="R828874db79d543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A348FC5-28E5-4029-993A-F8A4452D8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2FF3680-C382-4CF6-A714-2C1DA5F2B6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900E4F-FBA5-49FB-9B30-CD5F091D9C6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9CE2FC-03A5-47FF-8F52-0210BB8614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F63676-DD01-4ACB-B4CC-29E37658B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a8f30f81f54421"/>
    <p:sldLayoutId xmlns:r="http://schemas.openxmlformats.org/officeDocument/2006/relationships" id="2147483650" r:id="Re8fe7d38eccd446d"/>
    <p:sldLayoutId xmlns:r="http://schemas.openxmlformats.org/officeDocument/2006/relationships" id="2147483651" r:id="R2057382193334e6e"/>
    <p:sldLayoutId xmlns:r="http://schemas.openxmlformats.org/officeDocument/2006/relationships" id="2147483652" r:id="R6eb8ae4bd1244b10"/>
    <p:sldLayoutId xmlns:r="http://schemas.openxmlformats.org/officeDocument/2006/relationships" id="2147483653" r:id="R087a86fef3624305"/>
    <p:sldLayoutId xmlns:r="http://schemas.openxmlformats.org/officeDocument/2006/relationships" id="2147483654" r:id="R77a17a5054774ece"/>
    <p:sldLayoutId xmlns:r="http://schemas.openxmlformats.org/officeDocument/2006/relationships" id="2147483655" r:id="R93efeeb90d1e4416"/>
    <p:sldLayoutId xmlns:r="http://schemas.openxmlformats.org/officeDocument/2006/relationships" id="2147483656" r:id="R998dcb1a298c4595"/>
    <p:sldLayoutId xmlns:r="http://schemas.openxmlformats.org/officeDocument/2006/relationships" id="2147483657" r:id="Rfe699400bb7647f9"/>
    <p:sldLayoutId xmlns:r="http://schemas.openxmlformats.org/officeDocument/2006/relationships" id="2147483658" r:id="Rab95a171f09b478c"/>
    <p:sldLayoutId xmlns:r="http://schemas.openxmlformats.org/officeDocument/2006/relationships" id="2147483659" r:id="R828874db79d5433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6520abfcb74547" /><Relationship Type="http://schemas.openxmlformats.org/officeDocument/2006/relationships/notesSlide" Target="/ppt/notesSlides/notesSlide1.xml" Id="R1d8ec09cdc2240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5f2cd08a624def" /><Relationship Type="http://schemas.openxmlformats.org/officeDocument/2006/relationships/notesSlide" Target="/ppt/notesSlides/notesSlide2.xml" Id="R38e4638b3b4e41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2b44135be64590" /><Relationship Type="http://schemas.openxmlformats.org/officeDocument/2006/relationships/notesSlide" Target="/ppt/notesSlides/notesSlide3.xml" Id="R6854e0e90b4749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e7321f22814ef7" /><Relationship Type="http://schemas.openxmlformats.org/officeDocument/2006/relationships/image" Target="/ppt/media/image.png" Id="R2fbdb99437654863" /><Relationship Type="http://schemas.openxmlformats.org/officeDocument/2006/relationships/notesSlide" Target="/ppt/notesSlides/notesSlide4.xml" Id="Re685a61e3f0a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6b66b64de94c49" /><Relationship Type="http://schemas.openxmlformats.org/officeDocument/2006/relationships/image" Target="/ppt/media/image2.png" Id="R62b9c509fa864e67" /><Relationship Type="http://schemas.openxmlformats.org/officeDocument/2006/relationships/notesSlide" Target="/ppt/notesSlides/notesSlide5.xml" Id="R678e4126545746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901d1f632d4f53" /><Relationship Type="http://schemas.openxmlformats.org/officeDocument/2006/relationships/image" Target="/ppt/media/image3.png" Id="Rba3cd4f3f268496f" /><Relationship Type="http://schemas.openxmlformats.org/officeDocument/2006/relationships/notesSlide" Target="/ppt/notesSlides/notesSlide6.xml" Id="R3b4bf71fbd3a44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95bea4ce98c4e46" /><Relationship Type="http://schemas.openxmlformats.org/officeDocument/2006/relationships/image" Target="/ppt/media/image4.png" Id="Re83699e6827543d8" /><Relationship Type="http://schemas.openxmlformats.org/officeDocument/2006/relationships/notesSlide" Target="/ppt/notesSlides/notesSlide7.xml" Id="Rfe87097570fe40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758f5114014078" /><Relationship Type="http://schemas.openxmlformats.org/officeDocument/2006/relationships/image" Target="/ppt/media/image5.png" Id="Rffb790b7bd424daa" /><Relationship Type="http://schemas.openxmlformats.org/officeDocument/2006/relationships/notesSlide" Target="/ppt/notesSlides/notesSlide8.xml" Id="R878a56a3882b46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9323ad3d9845dc" /><Relationship Type="http://schemas.openxmlformats.org/officeDocument/2006/relationships/image" Target="/ppt/media/image6.png" Id="Rd7404250dce5403b" /><Relationship Type="http://schemas.openxmlformats.org/officeDocument/2006/relationships/notesSlide" Target="/ppt/notesSlides/notesSlide9.xml" Id="Re0714a545688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103859dffb411e" /><Relationship Type="http://schemas.openxmlformats.org/officeDocument/2006/relationships/notesSlide" Target="/ppt/notesSlides/notesSlide10.xml" Id="Rcc1b29156d2947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a92d70bd6004a10" /><Relationship Type="http://schemas.openxmlformats.org/officeDocument/2006/relationships/notesSlide" Target="/ppt/notesSlides/notesSlide11.xml" Id="Rfe726537d84a48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8327a38a5a4120" /><Relationship Type="http://schemas.openxmlformats.org/officeDocument/2006/relationships/image" Target="/ppt/media/image7.png" Id="R2e2adad91ba04355" /><Relationship Type="http://schemas.openxmlformats.org/officeDocument/2006/relationships/notesSlide" Target="/ppt/notesSlides/notesSlide12.xml" Id="Rd637516458094c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be0f6d75494405" /><Relationship Type="http://schemas.openxmlformats.org/officeDocument/2006/relationships/image" Target="/ppt/media/image8.png" Id="R36c1ed9b93634f07" /><Relationship Type="http://schemas.openxmlformats.org/officeDocument/2006/relationships/notesSlide" Target="/ppt/notesSlides/notesSlide13.xml" Id="Ra6cc1b5c32f445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2758d96fa544b7" /><Relationship Type="http://schemas.openxmlformats.org/officeDocument/2006/relationships/notesSlide" Target="/ppt/notesSlides/notesSlide14.xml" Id="R3fb7680fb709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3261c82da74967" /><Relationship Type="http://schemas.openxmlformats.org/officeDocument/2006/relationships/notesSlide" Target="/ppt/notesSlides/notesSlide15.xml" Id="R1b66d032459d40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12134B-5D43-42D0-975E-F351008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91440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PROYECTO FINAL · BASES DE DATOS 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3D51E4-6279-4FCD-96AA-C89EF28E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80160"/>
            <a:ext cx="105156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9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SIGEVET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BF4806-121B-40D0-A6D7-6A7D88C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2608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6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Sistema Integral de Gestión Veterinaria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9675DDF0-24D1-4C50-899D-005449F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9039"/>
            <a:ext cx="13716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E761BB-AE48-4108-B8BB-3E5BBEDB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Red de Clínicas Veterinarias Huella Sana S.A.S. (caso simulado)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E103CB5-9683-48E6-934B-BEB174DA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5488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Sebastián Castellanos Parra · Juan David Polo Herrera · Juan Miguel Ramos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457445F-B3D6-4D6F-8988-CB89D76A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Docente: Ing., Esp., M.Ed. Christian Felipe Duarte Arévalo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DAF8EEE-A482-4CFA-93E4-7A4153F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607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Universidad El Bosque · Ingeniería de Sistemas</a:t>
            </a:r>
          </a:p>
        </p:txBody>
      </p:sp>
    </p:spTree>
    <p:extLst>
      <p:ext uri="{BB962C8B-B14F-4D97-AF65-F5344CB8AC3E}">
        <p14:creationId xmlns:p14="http://schemas.microsoft.com/office/powerpoint/2010/main" val="5295038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E07E131-25D5-4E1C-83C9-7F60961B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EL PROBLEMA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3E2E36-DAAA-4B45-BB56-097CA725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Cinco sedes, datos separados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3850E9D7-D2F2-4CF1-98F8-B5F7D473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CA33088-2A52-4083-ABF9-C5F5D913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0D87BC7-B4D2-432C-A0BF-3878CE5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AC680C2-968E-422B-9F93-521A62C0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520440" cy="2926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0DBC878-9E18-4C5B-BD75-3E843757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96596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Citas cruzadas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379579D-74A9-484E-9112-DDDF4C42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9718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Cada sede lleva su propia agenda y nadie valida los cruces.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7390908-358A-423D-84C7-5DAA3458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20440" cy="2926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286A95-3D15-4F94-8332-F39D83C3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6596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Historia incompleta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155B4F3-CC11-4304-92C9-3C9E290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718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Si una mascota se atiende en otra sede, se pierden sus alergias y tratamientos.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20067A0-1C94-4B29-9CAF-B410055A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9" y="1828800"/>
            <a:ext cx="3520440" cy="2926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83DE03F-C12F-4FDA-961E-2D0D998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1965960"/>
            <a:ext cx="315468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Inventario y cobros sueltos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A1244E-8684-4D57-9ACF-AC714EB5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9" y="2971800"/>
            <a:ext cx="31546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Sin stock mínimo ni facturación unificada, no se sabe qué ingresa ni qué falta en cada sede.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8BCE45-C6F6-4523-B67F-9E8939B7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20640"/>
            <a:ext cx="10881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Objetivo: </a:t>
            </a:r>
            <a:r>
              <a:rPr sz="26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una sola base de datos relacional, en 3FN, que se consulte desde una aplicación web.</a:t>
            </a:r>
          </a:p>
        </p:txBody>
      </p:sp>
    </p:spTree>
    <p:extLst>
      <p:ext uri="{BB962C8B-B14F-4D97-AF65-F5344CB8AC3E}">
        <p14:creationId xmlns:p14="http://schemas.microsoft.com/office/powerpoint/2010/main" val="6098810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CE5DEF-37F7-465C-AE05-6D27A355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94F54D7-D7E5-472C-B75A-F43A3354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Qué incluye y qué no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EB59A20D-85BF-4F46-9567-B94381DA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0A22D6B-5494-45E2-BDC2-FD9EAD8B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F5C0F6D-8746-42B1-805E-A798839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2373B45-5698-4487-A421-EF4961F5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6309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Incluye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F82BAA-DF95-4EF1-A7DE-56383291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440"/>
            <a:ext cx="640080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Cinco sedes, cada una con su director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Personal: veterinarios, auxiliares y administrativos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Clientes, mascotas e historia clínica única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Citas, consultas y fórmulas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Inventario por sede y facturación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Consulta web de solo lectura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BC8596B-4B8D-44FA-AF94-28A7238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0" cy="41148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B8BFC6"/>
            </a:solidFill>
          </a:ln>
        </p:spPr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7666B86-35BD-4497-8F4F-C813E36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783080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000" b="1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No incluye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8D91D-A268-4E62-8052-C2CADB2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2377440"/>
            <a:ext cx="4023360" cy="3840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DIAN, nómina ni contabilidad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Pagos en línea ni compras a proveedores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Autenticación ni aplicación móvil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Alta disponibilidad ni réplicas</a:t>
            </a:r>
          </a:p>
        </p:txBody>
      </p:sp>
    </p:spTree>
    <p:extLst>
      <p:ext uri="{BB962C8B-B14F-4D97-AF65-F5344CB8AC3E}">
        <p14:creationId xmlns:p14="http://schemas.microsoft.com/office/powerpoint/2010/main" val="7220708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E3C888-7F11-47AF-B435-5263A255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MODELO ENTIDAD-RELACIÓN · CHEN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B783A38-C421-405E-851F-656C59A4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18 entidades y 26 relaciones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478F1F2-82A5-428A-B560-F9A8683D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014343D-CC1B-47D6-81D3-41F533AF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9CD0AB8-A9A3-40AE-885B-8EA2A36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0987DFAF-8ABD-4A97-8933-DFCFFF753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db99437654863"/>
          <a:stretch xmlns:a="http://schemas.openxmlformats.org/drawingml/2006/main"/>
        </p:blipFill>
        <p:spPr>
          <a:xfrm xmlns:a="http://schemas.openxmlformats.org/drawingml/2006/main">
            <a:off x="648314" y="1737360"/>
            <a:ext cx="6750091" cy="4450314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6F75A2-C89E-4BDD-9E0B-97B323C1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828800"/>
            <a:ext cx="35661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5</a:t>
            </a:r>
            <a:r>
              <a:rPr sz="26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 de 1:1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0A96DF-4517-4ACE-A4A5-4328F28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743200"/>
            <a:ext cx="35661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18</a:t>
            </a:r>
            <a:r>
              <a:rPr sz="26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 de 1:N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F48DB7F-7C5D-480F-B79E-F790303C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3657600"/>
            <a:ext cx="35661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3</a:t>
            </a:r>
            <a:r>
              <a:rPr sz="26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 de N:M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15B2BB0-C618-4236-9ABF-C7B4A50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46320"/>
            <a:ext cx="35661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DETALLE_FACTURA es la entidad débil de FACTURA.</a:t>
            </a:r>
          </a:p>
        </p:txBody>
      </p:sp>
    </p:spTree>
    <p:extLst>
      <p:ext uri="{BB962C8B-B14F-4D97-AF65-F5344CB8AC3E}">
        <p14:creationId xmlns:p14="http://schemas.microsoft.com/office/powerpoint/2010/main" val="2381680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15614F-ACBB-4B50-84A4-563DA797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MODELO ENTIDAD-RELACIÓN EXTENDIDO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8D1CE9A-8820-4296-BEAF-73D262D7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EMPLEADO se especializa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F4580282-B8AC-4E78-AD56-08B6F7B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CC59169-9BD7-40BD-86F4-091DC20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A8EAF70-EC84-4165-95E7-1948FFDD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D64D1F01-9D9F-4A69-8BF7-29CA26E70B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9c509fa864e67"/>
          <a:stretch xmlns:a="http://schemas.openxmlformats.org/drawingml/2006/main"/>
        </p:blipFill>
        <p:spPr>
          <a:xfrm xmlns:a="http://schemas.openxmlformats.org/drawingml/2006/main">
            <a:off x="824625" y="1737360"/>
            <a:ext cx="5960543" cy="443484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602BABA-6B3E-4504-AF94-E7F280E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828800"/>
            <a:ext cx="4114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VETERINARIO y AUXILIAR son subclases de EMPLEADO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Especialización disyunta (d) y parcial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Los administrativos (ADM) quedan en EMPLEADO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En tablas: una por superclase y una por subclase</a:t>
            </a:r>
          </a:p>
        </p:txBody>
      </p:sp>
    </p:spTree>
    <p:extLst>
      <p:ext uri="{BB962C8B-B14F-4D97-AF65-F5344CB8AC3E}">
        <p14:creationId xmlns:p14="http://schemas.microsoft.com/office/powerpoint/2010/main" val="11314610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390F934-5850-41AC-AF14-1B67653F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MODELO ENTIDAD-RELACIÓN · BARKER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3DE3EB-DD20-48E3-980A-E2767914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Notación Barker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A6CC4D8B-34F7-477D-8F0F-B6DE0EC9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1DE19C4-3033-446E-99B2-FA3C82F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6E6C85F-17B8-4EDA-A5A2-A450E22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137CB11-CA28-48FE-966A-914899D5AE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cd4f3f268496f"/>
          <a:stretch xmlns:a="http://schemas.openxmlformats.org/drawingml/2006/main"/>
        </p:blipFill>
        <p:spPr>
          <a:xfrm xmlns:a="http://schemas.openxmlformats.org/drawingml/2006/main">
            <a:off x="651198" y="1691640"/>
            <a:ext cx="5675948" cy="461772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BC20FD-7165-4800-8AC3-AD7408D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Vista ampliada: área comercial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# identificador único, * obligatorio, o opcional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Línea continua: participación obligatoria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Línea discontinua: participación opcional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Pata de gallina: muchos; el mínimo depende de la obligatoriedad</a:t>
            </a:r>
          </a:p>
        </p:txBody>
      </p:sp>
    </p:spTree>
    <p:extLst>
      <p:ext uri="{BB962C8B-B14F-4D97-AF65-F5344CB8AC3E}">
        <p14:creationId xmlns:p14="http://schemas.microsoft.com/office/powerpoint/2010/main" val="17696848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71EA852-9402-4277-AFFD-7C51FF81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MODELO ENTIDAD-RELACIÓN · CROW'S FOOT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3573427-9312-4DD7-97EA-9FC1E235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Notación Crow's Foot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09870049-1A82-4D67-AF11-2B2C02E9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68EE85-BB1A-4D05-A477-EF6A1C7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CA6F95-F1F3-4F3E-A1CA-1EDD2F90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8981A047-35CE-4614-906F-1298E15EFA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699e6827543d8"/>
          <a:stretch xmlns:a="http://schemas.openxmlformats.org/drawingml/2006/main"/>
        </p:blipFill>
        <p:spPr>
          <a:xfrm xmlns:a="http://schemas.openxmlformats.org/drawingml/2006/main">
            <a:off x="640080" y="1711729"/>
            <a:ext cx="5663242" cy="4577543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A9B571-8714-45BA-B619-CB63539D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75488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Dos barras: uno y solo uno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Círculo y barra: cero o uno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Barra y pata de gallina: uno o muchos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Círculo y pata de gallina: cero o muchos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2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Vista ampliada: área comercial</a:t>
            </a:r>
          </a:p>
        </p:txBody>
      </p:sp>
    </p:spTree>
    <p:extLst>
      <p:ext uri="{BB962C8B-B14F-4D97-AF65-F5344CB8AC3E}">
        <p14:creationId xmlns:p14="http://schemas.microsoft.com/office/powerpoint/2010/main" val="15850262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70D500E-8FC4-4408-9575-9DE88A08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MODELO RELACIONAL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51CC94A-C5EC-4EFA-99B1-5E7F5026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22 tablas y 30 llaves foráneas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17C7773-FE68-4470-8F2C-9257124B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0B93AEF-98FC-48FF-AAC4-175CB948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8E7A88-625A-412F-8E9A-9D53CABB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E7B14BBD-28BF-4ED2-BF64-9FD80030A0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790b7bd424daa"/>
          <a:stretch xmlns:a="http://schemas.openxmlformats.org/drawingml/2006/main"/>
        </p:blipFill>
        <p:spPr>
          <a:xfrm xmlns:a="http://schemas.openxmlformats.org/drawingml/2006/main">
            <a:off x="1992155" y="1691640"/>
            <a:ext cx="3562165" cy="4572000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9EDA13F-4E7B-4D3A-9B4E-45203A6A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828800"/>
            <a:ext cx="438912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Una tabla por cada N:M: VETERINARIO_ESPECIALIDAD, PRESCRIPCION e INVENTARIO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TELEFONO_CLIENTE guarda teléfonos; vista: organización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SEDE y EMPLEADO se referencian entre sí: la FK del director se agrega al final</a:t>
            </a:r>
          </a:p>
        </p:txBody>
      </p:sp>
    </p:spTree>
    <p:extLst>
      <p:ext uri="{BB962C8B-B14F-4D97-AF65-F5344CB8AC3E}">
        <p14:creationId xmlns:p14="http://schemas.microsoft.com/office/powerpoint/2010/main" val="1774552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3249F09-968C-45D8-A118-2C828B80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NORMALIZACIÓN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C8B5242-7223-4164-A94A-DF47BA38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Hasta la Tercera Forma Normal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D8FC3E9A-A0B1-4D1E-80CA-C707DB8C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81DC30-4D97-4568-92B3-624F9D9A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764FEA-F422-4A33-9512-57A35D0B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pic>
        <p:nvPicPr>
          <p:cNvPr id="7" name="Picture 6">
            <a:extLst xmlns:a="http://schemas.openxmlformats.org/drawingml/2006/main">
              <a:ext uri="{FF2B5EF4-FFF2-40B4-BE49-F238E27FC236}">
                <a16:creationId xmlns:a16="http://schemas.microsoft.com/office/drawing/2014/main" id="{13678FD5-1EEA-4D89-8662-841073BC6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04250dce5403b"/>
          <a:stretch xmlns:a="http://schemas.openxmlformats.org/drawingml/2006/main"/>
        </p:blipFill>
        <p:spPr>
          <a:xfrm xmlns:a="http://schemas.openxmlformats.org/drawingml/2006/main">
            <a:off x="2412293" y="1645920"/>
            <a:ext cx="7336935" cy="3857889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0C2664C-71BA-4854-9CEC-BC0C3EFC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3566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1FN: </a:t>
            </a: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los teléfonos pasan a su propia tabla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6983A9-C328-47E5-AE58-AF241F7B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577840"/>
            <a:ext cx="3566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2FN: </a:t>
            </a: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la factura se separa de sus líneas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3D9F9DC-B033-4D29-9F22-E67C153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59" y="5577840"/>
            <a:ext cx="35661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3FN: </a:t>
            </a: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ciudad → departamento y raza → especie</a:t>
            </a:r>
          </a:p>
        </p:txBody>
      </p:sp>
    </p:spTree>
    <p:extLst>
      <p:ext uri="{BB962C8B-B14F-4D97-AF65-F5344CB8AC3E}">
        <p14:creationId xmlns:p14="http://schemas.microsoft.com/office/powerpoint/2010/main" val="90031942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E9C9FE6-8696-43D7-A54F-8C10A7D8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BASE DE DATOS · MYSQL 8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96104B3-E9D8-44ED-A8E5-34FEA16D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22 tablas en MySQL 8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90D475AF-8F4B-4BFE-8CFD-F990B4DE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1D401FD-A4CB-4C0B-BC78-9CDDAA1B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ECD5CC-9E27-4C17-96A9-4EF90209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DD9F37-FF9A-426C-B6D0-F358490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3701AE2-0717-43FA-BC2F-572DA9DB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92807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3E3D415-145A-4335-B2AA-A16607EA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88920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tablas en 3FN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6A54FEB-40EC-4222-953C-814DB151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83080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FEB58CE-AB63-4E06-81D8-3BE7170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92807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113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EB473E-2934-4B7F-BC9A-725980A1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88920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restricciones con nombre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1587219-6B80-4CA5-A339-A156646C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9" y="1783080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FE8B34-7640-44BB-A466-7EE0088D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892807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1.091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F79C18-1EE3-4D0C-B70E-0EDF73C4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788920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registros de prueba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0CAA9E6-4369-401D-8645-C27D948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39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250D9CB-153D-4EF3-9D2D-2D33ACE8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58768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DEC7342-1804-42D9-BBAE-255EEC7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54879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vistas y 2 funciones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6E516FB-B99C-4627-8243-FC6CC721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9039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3A87A38-A8E2-4285-B75C-1462B9D0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858768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F32CA51-BE39-45C8-A80A-49DA824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54879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disparadores y 3 procedimientos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F30FA7C-C2BF-4A7C-93E6-A85D091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19" y="3749039"/>
            <a:ext cx="3520440" cy="17830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DD90E2-BC17-4A47-BD39-329C3783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858768"/>
            <a:ext cx="32461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4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10/10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4D0C2DD-4C2F-499A-87D6-4525654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754879"/>
            <a:ext cx="3246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pruebas de reglas en OK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6B5EB55-366F-4A2C-B19B-5FB3431D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06440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MySQL 8.4 LTS · vetdb es el dueño de la base y vet_app solo puede leer</a:t>
            </a:r>
          </a:p>
        </p:txBody>
      </p:sp>
    </p:spTree>
    <p:extLst>
      <p:ext uri="{BB962C8B-B14F-4D97-AF65-F5344CB8AC3E}">
        <p14:creationId xmlns:p14="http://schemas.microsoft.com/office/powerpoint/2010/main" val="7157683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9752AB3-193A-40D0-9BD4-4F557204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INFRAESTRUCTURA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08BE560-2095-4814-B499-E1AD1820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Servidor Linux, VM y base de datos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885529A2-EED7-4547-B37F-D92B94AB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CAAE6A-5ADB-4EF0-9E92-3BFCBAD8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57D888C-0706-42D5-B001-441A717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106DE6B-D3B0-44EE-BE3A-BEDD75C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291840" cy="24688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AD57E8-8D2C-4D7C-A45B-D1CBC076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9260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Servidor Linux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6F21A01-21A7-4E05-8BEA-FFCEB757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Fedora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KVM/QEMU con Lima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11D3DC5-29E7-4F98-9257-53D9644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11680"/>
            <a:ext cx="3566160" cy="24688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8119181-5931-45F5-919B-8ECF3DA3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48840"/>
            <a:ext cx="3200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VM Oracle Linux 9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5FE4A9A-F51F-46E4-871F-526DB2D0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43200"/>
            <a:ext cx="32004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MySQL 8.4 · base sigevet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App Spring Boot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Puerto 5000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694D697-D4E8-4506-8531-DF0737FC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011680"/>
            <a:ext cx="2834640" cy="24688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F43A431-16AE-4BF3-A3CF-43B94606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14884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Quien consulta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3B6FFA-F0FC-4083-B93E-E1EEA0A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743200"/>
            <a:ext cx="246888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Navegador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MySQL Workbench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4843CD98-2746-4AFC-833C-B4D91574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3246120"/>
            <a:ext cx="54864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2933"/>
            </a:solidFill>
            <a:tailEnd type="arrow" w="lg" len="lg"/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444E8780-55B3-4E9A-8AC7-929194A1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246120"/>
            <a:ext cx="54864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F2933"/>
            </a:solidFill>
            <a:tailEnd type="arrow" w="lg" len="lg"/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86FBBD-7813-4561-A942-DBC99895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5669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Un solo comando monta todo: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6F4131C-35BF-4552-9ABD-C34433B4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58521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6725C45-2ABF-4D7F-868D-0FC3931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94960"/>
            <a:ext cx="5669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bash vm/migrar_linux.sh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035C573-727B-48ED-AA36-C7BB3B2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2040"/>
            <a:ext cx="47548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Crea la VM, instala MySQL, carga la base y deja la app funcionando</a:t>
            </a:r>
          </a:p>
        </p:txBody>
      </p:sp>
    </p:spTree>
    <p:extLst>
      <p:ext uri="{BB962C8B-B14F-4D97-AF65-F5344CB8AC3E}">
        <p14:creationId xmlns:p14="http://schemas.microsoft.com/office/powerpoint/2010/main" val="213348524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00349DA-8D8D-4AC4-999D-17E52674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APLICACIÓN WEB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C047E0A-2FDF-4976-A5C1-900D8353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Spring Boot, sin ORM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4C22053-3B85-4014-9D4A-760B96A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30DFB19-659F-4F1D-B0E5-BDE8607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41C7A1-DBB4-407D-87D5-26D5D685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11057D6-69B9-4077-8541-6699C326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45720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Java 21, Spring Boot y Thymeleaf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SQL escrito a mano con JDBC y PreparedStatement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Usuario vet_app: solo lectura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1400"/>
              </a:spcAft>
              <a:buChar char="•"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java -jar sigevet.jar, puerto 5000</a:t>
            </a:r>
          </a:p>
        </p:txBody>
      </p:sp>
      <p:pic>
        <p:nvPicPr>
          <p:cNvPr id="8" name="Picture 7">
            <a:extLst xmlns:a="http://schemas.openxmlformats.org/drawingml/2006/main">
              <a:ext uri="{FF2B5EF4-FFF2-40B4-BE49-F238E27FC236}">
                <a16:creationId xmlns:a16="http://schemas.microsoft.com/office/drawing/2014/main" id="{707EC4B7-37D4-4DB6-AEA1-7E0E8F5337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adad91ba0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1828800"/>
            <a:ext cx="6126480" cy="3522726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A68B6BC-8585-4AC7-AF0C-12C7ED2E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15000"/>
            <a:ext cx="6126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Página de clientes de la aplicación</a:t>
            </a:r>
          </a:p>
        </p:txBody>
      </p:sp>
    </p:spTree>
    <p:extLst>
      <p:ext uri="{BB962C8B-B14F-4D97-AF65-F5344CB8AC3E}">
        <p14:creationId xmlns:p14="http://schemas.microsoft.com/office/powerpoint/2010/main" val="154743425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2D4BCDB-CD5D-4FF1-B587-FAA6BB7A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PROGRAMACIÓN ORIENTADA A OBJETOS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447799-0884-49E6-9A1E-E30E9FB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Herencia y polimorfismo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6323F1F3-8C0E-431D-AE5B-BA618FF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3580A51-35A3-46E9-8A21-5AD18D67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CC79049-60AF-4679-AF22-28BC5957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15D2FF-E10E-4DDC-A819-7117ADA2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E22C0B-B560-4FF3-9559-B23A4108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3736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Persona (abstracta)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604D47-7B43-41D0-AE51-F4C76C6D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FC522D6-4E8D-4B2D-8C2B-3577FD5E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14600"/>
            <a:ext cx="1645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6727AE-A1A3-45C5-AF0E-3FFD44A1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5146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C17FA13-7108-4C9C-B6AA-BAD82627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51460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Empleado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EF7E4BB-DDFC-4CA3-BB14-64964817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5D57A5-5391-4594-BBB2-E27A480D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9184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Veterinario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239A58D-BD14-4025-B301-4736475D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9184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29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3C3B309-6680-482C-828C-80B651AC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29184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Aft>
                <a:spcPts val="0"/>
              </a:spcAft>
              <a:buNone/>
            </a:pPr>
            <a:r>
              <a:rPr sz="1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Auxiliar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FC206CC6-C6C4-41AB-AE44-35EEEFFD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2194560"/>
            <a:ext cx="1508760" cy="32004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1F2933"/>
            </a:solidFill>
            <a:tailEnd type="arrow" w="lg" len="lg"/>
          </a:ln>
        </p:spPr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9D195C4-3D1E-4B36-9C2E-E25861A0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880360" y="2194560"/>
            <a:ext cx="1371600" cy="32004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1F2933"/>
            </a:solidFill>
            <a:tailEnd type="arrow" w="lg" len="lg"/>
          </a:ln>
        </p:spPr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B4ABDB1F-519C-477E-AEC0-C3F9F23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11880" y="2971800"/>
            <a:ext cx="640080" cy="32004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1F2933"/>
            </a:solidFill>
            <a:tailEnd type="arrow" w="lg" len="lg"/>
          </a:ln>
        </p:spPr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864B8D7A-A09E-4F47-9434-22A5D4F7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251960" y="2971800"/>
            <a:ext cx="1097280" cy="320040"/>
          </a:xfrm>
          <a:prstGeom xmlns:a="http://schemas.openxmlformats.org/drawingml/2006/main" prst="line">
            <a:avLst/>
          </a:prstGeom>
          <a:ln xmlns:a="http://schemas.openxmlformats.org/drawingml/2006/main" w="22225">
            <a:solidFill>
              <a:srgbClr val="1F2933"/>
            </a:solidFill>
            <a:tailEnd type="arrow" w="lg" len="lg"/>
          </a:ln>
        </p:spPr>
      </p:sp>
      <p:pic>
        <p:nvPicPr>
          <p:cNvPr id="21" name="Picture 20">
            <a:extLst xmlns:a="http://schemas.openxmlformats.org/drawingml/2006/main">
              <a:ext uri="{FF2B5EF4-FFF2-40B4-BE49-F238E27FC236}">
                <a16:creationId xmlns:a16="http://schemas.microsoft.com/office/drawing/2014/main" id="{39CC6866-8DC8-452E-81B5-5BEBD4B0D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1ed9b93634f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" y="4023360"/>
            <a:ext cx="5394960" cy="2144767"/>
          </a:xfrm>
          <a:prstGeom xmlns:a="http://schemas.openxmlformats.org/drawingml/2006/main" prst="rect">
            <a:avLst/>
          </a:prstGeom>
          <a:ln xmlns:a="http://schemas.openxmlformats.org/drawingml/2006/main" w="12700">
            <a:solidFill>
              <a:srgbClr val="B8BFC6"/>
            </a:solidFill>
          </a:ln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5C872A53-6D8A-48BA-9C91-00719C9C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37360"/>
            <a:ext cx="521208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B97AEB9-969B-4A29-9B86-D8E544E6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83080"/>
            <a:ext cx="5029200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Empleado empleado;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if ("VET".equals(tipoEmpleado)) {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empleado = new Veterinario();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} else if ("AUX".equals(tipoEmpleado)) {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empleado = new Auxiliar();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} else {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empleado = new Empleado();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5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409B85C-A389-45C2-AAFF-9E7E7EA4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52120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Una sola lista de Empleado y tres versiones de getDescripcion()</a:t>
            </a:r>
          </a:p>
          <a:p xmlns:a="http://schemas.openxmlformats.org/drawingml/2006/main">
            <a:pPr marL="292608" indent="-292608" algn="l">
              <a:lnSpc>
                <a:spcPct val="100000"/>
              </a:lnSpc>
              <a:spcAft>
                <a:spcPts val="800"/>
              </a:spcAft>
              <a:buChar char="•"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La tabla de la izquierda sale de esa lista</a:t>
            </a:r>
          </a:p>
        </p:txBody>
      </p:sp>
    </p:spTree>
    <p:extLst>
      <p:ext uri="{BB962C8B-B14F-4D97-AF65-F5344CB8AC3E}">
        <p14:creationId xmlns:p14="http://schemas.microsoft.com/office/powerpoint/2010/main" val="126295828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72D8DA-F8D3-4BA9-9C85-7562E3F3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ÁLGEBRA RELACIONAL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AE34DF6-B191-4D50-B254-0D8881B5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55 ejercicios, mismo resultado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9B17A85D-7037-4FA9-A55B-EB393921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35C5245-47B3-4D78-9CD8-B3D399A6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91DD672-4063-4ADD-A091-A92699C5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197EBA1-BED9-4761-8FD3-26D7313B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393192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60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55 de 55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C49F44F-05AC-43B0-9A4C-81303FB8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393192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consultas dan en MySQL el mismo resultado que en la Fase 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A5E5C4C-6B46-4683-8376-9ABD356C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783080"/>
            <a:ext cx="6675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2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Ejercicio 41: medicamentos en todas las sedes (división)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274EB8-C3AC-421D-8FB6-BC9775A4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286000"/>
            <a:ext cx="66751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 ← π id_medicamento, id_sede (INVENTARIO) ÷ π id_sede (SEDE)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sz="18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π id_medicamento, nombre (T ⋈ MEDICAMENTO)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335D588-31CB-4A69-8363-BECDA7BE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246120"/>
            <a:ext cx="667512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4345D4-D47B-4A38-9225-B6DD689C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1840"/>
            <a:ext cx="6492240" cy="2423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SELECT m.id_medicamento, m.nombre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FROM MEDICAMENTO m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WHERE NOT EXISTS (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SELECT s.id_sede FROM SEDE s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WHERE NOT EXISTS (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SELECT 1 FROM INVENTARIO i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WHERE i.id_sede = s.id_sede</a:t>
            </a:r>
          </a:p>
          <a:p xmlns:a="http://schemas.openxmlformats.org/drawingml/2006/main">
            <a:pPr algn="l">
              <a:lnSpc>
                <a:spcPct val="100000"/>
              </a:lnSpc>
              <a:spcAft>
                <a:spcPts val="100"/>
              </a:spcAft>
              <a:buNone/>
            </a:pPr>
            <a:r>
              <a:rPr sz="1600" b="0">
                <a:solidFill>
                  <a:srgbClr val="1F2933"/>
                </a:solidFill>
                <a:latin typeface="Courier New"/>
                <a:ea typeface="Courier New"/>
                <a:cs typeface="Courier New"/>
              </a:rPr>
              <a:t>      AND i.id_medicamento = m.id_medicamento));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A2BD343-051E-4A94-A6D8-F0E8EE43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852160"/>
            <a:ext cx="6675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Resultado: 8 medicamentos que están en las 5 sedes</a:t>
            </a:r>
          </a:p>
        </p:txBody>
      </p:sp>
    </p:spTree>
    <p:extLst>
      <p:ext uri="{BB962C8B-B14F-4D97-AF65-F5344CB8AC3E}">
        <p14:creationId xmlns:p14="http://schemas.microsoft.com/office/powerpoint/2010/main" val="209995950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A373B53-1408-47A2-BF86-E86E08F9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6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EQUIPO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255153B-D724-496E-AFB3-0EA9D84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21792"/>
            <a:ext cx="108813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Equipo y cierre</a:t>
            </a:r>
          </a:p>
        </p:txBody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D9F0D6F5-17AC-4122-8449-89458729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1328"/>
            <a:ext cx="1097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309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B733693-B62A-478C-8DED-3C3C59FE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SIGEVET · Bases de Datos 1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9BF6E3-589F-47BD-B058-C8540C0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40080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Aft>
                <a:spcPts val="600"/>
              </a:spcAft>
              <a:buNone/>
            </a:pPr>
            <a:r>
              <a:rPr sz="12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104AC90-B0A2-4831-8471-2DE8578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28800"/>
            <a:ext cx="10881360" cy="8686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4DC4AD-375B-4FF2-BD28-687F2C08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Juan David Polo Herrera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0B353C6-C304-4FB6-A86B-18DF66A2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5303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Gerente del proyecto y DBA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0A7295-9F92-4A30-A1E7-70B74CFA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10881360" cy="8686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D156706-8B84-4F47-999D-20DC7FD9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Sebastián Castellanos Parra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C01F3D3-4CA6-456A-AD6E-6D4D0C6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880360"/>
            <a:ext cx="5303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Analista y modelador de datos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0F1097A-CABD-4DCC-8882-A79F78A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0881360" cy="868680"/>
          </a:xfrm>
          <a:prstGeom xmlns:a="http://schemas.openxmlformats.org/drawingml/2006/main" prst="roundRect">
            <a:avLst>
              <a:gd name="adj" fmla="val 60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8BFC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A55AD0-82ED-414B-BEDF-5C1150D8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3192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6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Juan Miguel Ramos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0E62B2-00B7-41F1-83E5-CE438351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931920"/>
            <a:ext cx="53035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4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Desarrollador web e infraestructura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C97B5CB-1046-4D0C-91EB-8BFE8A7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10881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3800" b="1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Gracias. Ahora, demo y preguntas.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C6EE28C-7646-46C5-8F63-C8B68DA3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10881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buNone/>
            </a:pPr>
            <a:r>
              <a:rPr sz="2000" b="0">
                <a:solidFill>
                  <a:srgbClr val="5B6670"/>
                </a:solidFill>
                <a:latin typeface="Calibri"/>
                <a:ea typeface="Calibri"/>
                <a:cs typeface="Calibri"/>
              </a:rPr>
              <a:t>MySQL Workbench · aplicación web · scripts en la VM</a:t>
            </a:r>
          </a:p>
        </p:txBody>
      </p:sp>
    </p:spTree>
    <p:extLst>
      <p:ext uri="{BB962C8B-B14F-4D97-AF65-F5344CB8AC3E}">
        <p14:creationId xmlns:p14="http://schemas.microsoft.com/office/powerpoint/2010/main" val="17607886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2026-10-31T00:38:29.5950000Z</dcterms:created>
  <dcterms:modified xsi:type="dcterms:W3CDTF">2026-10-31T00:38:29.5950000Z</dcterms:modified>
</coreProperties>
</file>