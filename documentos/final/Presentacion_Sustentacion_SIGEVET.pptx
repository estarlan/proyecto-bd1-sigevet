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Presentación del proyecto SIGEVET: sistema de gestión para una red de clínicas veterinarias simulada.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red tiene cinco sedes y cada una trabajaba con sus propios datos. Eso genera citas cruzadas, historias incompletas y poca visibilidad del negocio.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alcance cubre desde las sedes hasta la facturación. Quedan fuera los temas contables y de producción.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modelo conceptual en notación de Peter Chen tiene 18 entidades y 26 relaciones. DETALLE_FACTURA es la entidad débil.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EMPLEADO se especializa en VETERINARIO y AUXILIAR. La especialización es disyunta y parcial.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modelo lógico en notación Barker muestra las 22 tablas con sus atributos y la obligatoriedad de cada relación.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mismo esquema en notación Crow's Foot, donde los símbolos de cada extremo indican el mínimo y el máximo.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modelo relacional resultante tiene 22 tablas y 30 llaves foráneas. Cada relación N:M se convierte en una tabla.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Partimos de una orden de atención y factura sin normalizar y llegamos a 3FN, que da como resultado las tablas del modelo relacional.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base de datos está en MySQL 8.4 LTS con InnoDB. Las reglas de negocio que CHECK no alcanza se validan con disparadores.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servidor Linux con Fedora aloja la máquina virtual con Oracle Linux 9. Dentro de la VM corren MySQL y la aplicación web. Todo se instala con un solo script.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aplicación web es de solo lectura. Usa Spring Boot y JDBC con SQL escrito a mano; no usa ORM, JPA ni Hibernate.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Persona es una clase abstracta. Cliente y Empleado heredan de ella, y Veterinario y Auxiliar heredan de Empleado. La página de personal llama a getDescripcion() y cada objeto responde con su versión.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55 ejercicios de álgebra relacional se escribieron también en SQL y se ejecutaron en MySQL con el mismo resultado que en la Fase 1. El ejercicio 41 es una división.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 del proyecto y paso a la demostración en vivo.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B45309"/>
                </a:solidFill>
                <a:latin typeface="Calibri"/>
              </a:rPr>
              <a:t>PROYECTO FINAL · BASES DE DATOS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15600" cy="16459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600" b="1">
                <a:solidFill>
                  <a:srgbClr val="1F2933"/>
                </a:solidFill>
                <a:latin typeface="Calibri"/>
              </a:rPr>
              <a:t>SIGEVET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26080"/>
            <a:ext cx="1051560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600" b="0">
                <a:solidFill>
                  <a:srgbClr val="1F2933"/>
                </a:solidFill>
                <a:latin typeface="Calibri"/>
              </a:rPr>
              <a:t>Sistema Integral de Gestión Veterinaria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68680" y="3749039"/>
            <a:ext cx="1371600" cy="0"/>
          </a:xfrm>
          <a:prstGeom prst="line">
            <a:avLst/>
          </a:prstGeom>
          <a:ln w="38100">
            <a:solidFill>
              <a:srgbClr val="B45309"/>
            </a:solidFill>
          </a:ln>
        </p:spPr>
      </p:cxnSp>
      <p:sp>
        <p:nvSpPr>
          <p:cNvPr id="6" name="TextBox 5"/>
          <p:cNvSpPr txBox="1"/>
          <p:nvPr/>
        </p:nvSpPr>
        <p:spPr>
          <a:xfrm>
            <a:off x="822960" y="3931920"/>
            <a:ext cx="1051560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400" b="0">
                <a:solidFill>
                  <a:srgbClr val="5B6670"/>
                </a:solidFill>
                <a:latin typeface="Calibri"/>
              </a:rPr>
              <a:t>Red de Clínicas Veterinarias Huella Sana S.A.S. (caso simulado)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54880"/>
            <a:ext cx="1078992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>
                <a:solidFill>
                  <a:srgbClr val="1F2933"/>
                </a:solidFill>
                <a:latin typeface="Calibri"/>
              </a:rPr>
              <a:t>Sebastián Castellanos Parra · Juan David Polo Herrera · Juan Miguel Ramos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303520"/>
            <a:ext cx="10515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>
                <a:solidFill>
                  <a:srgbClr val="5B6670"/>
                </a:solidFill>
                <a:latin typeface="Calibri"/>
              </a:rPr>
              <a:t>Docente: Ing., Esp., M.Ed. Christian Felipe Duarte Arévalo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760720"/>
            <a:ext cx="10515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>
                <a:solidFill>
                  <a:srgbClr val="5B6670"/>
                </a:solidFill>
                <a:latin typeface="Calibri"/>
              </a:rPr>
              <a:t>Universidad El Bosque · Ingeniería de Sistemas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8813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B45309"/>
                </a:solidFill>
                <a:latin typeface="Calibri"/>
              </a:rPr>
              <a:t>EL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1792"/>
            <a:ext cx="1088136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>
                <a:solidFill>
                  <a:srgbClr val="1F2933"/>
                </a:solidFill>
                <a:latin typeface="Calibri"/>
              </a:rPr>
              <a:t>Cinco sedes, datos separados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481328"/>
            <a:ext cx="1097280" cy="0"/>
          </a:xfrm>
          <a:prstGeom prst="line">
            <a:avLst/>
          </a:prstGeom>
          <a:ln w="38100">
            <a:solidFill>
              <a:srgbClr val="B45309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5B6670"/>
                </a:solidFill>
                <a:latin typeface="Calibri"/>
              </a:rPr>
              <a:t>SIGEVET · Bases de Datos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5B6670"/>
                </a:solidFill>
                <a:latin typeface="Calibri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3520440" cy="2926080"/>
          </a:xfrm>
          <a:prstGeom prst="roundRect">
            <a:avLst>
              <a:gd name="adj" fmla="val 6000"/>
            </a:avLst>
          </a:prstGeom>
          <a:noFill/>
          <a:ln w="22225">
            <a:solidFill>
              <a:srgbClr val="B8BFC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965960"/>
            <a:ext cx="3154680" cy="9601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B45309"/>
                </a:solidFill>
                <a:latin typeface="Calibri"/>
              </a:rPr>
              <a:t>Citas cruzadas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971800"/>
            <a:ext cx="3154680" cy="1645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>
                <a:solidFill>
                  <a:srgbClr val="1F2933"/>
                </a:solidFill>
                <a:latin typeface="Calibri"/>
              </a:rPr>
              <a:t>Cada sede lleva su propia agenda y nadie valida los cruces.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828800"/>
            <a:ext cx="3520440" cy="2926080"/>
          </a:xfrm>
          <a:prstGeom prst="roundRect">
            <a:avLst>
              <a:gd name="adj" fmla="val 6000"/>
            </a:avLst>
          </a:prstGeom>
          <a:noFill/>
          <a:ln w="22225">
            <a:solidFill>
              <a:srgbClr val="B8BFC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965960"/>
            <a:ext cx="3154680" cy="9601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B45309"/>
                </a:solidFill>
                <a:latin typeface="Calibri"/>
              </a:rPr>
              <a:t>Historia incompleta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971800"/>
            <a:ext cx="3154680" cy="1645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>
                <a:solidFill>
                  <a:srgbClr val="1F2933"/>
                </a:solidFill>
                <a:latin typeface="Calibri"/>
              </a:rPr>
              <a:t>Si una mascota se atiende en otra sede, se pierden sus alergias y tratamientos.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1828800"/>
            <a:ext cx="3520440" cy="2926080"/>
          </a:xfrm>
          <a:prstGeom prst="roundRect">
            <a:avLst>
              <a:gd name="adj" fmla="val 6000"/>
            </a:avLst>
          </a:prstGeom>
          <a:noFill/>
          <a:ln w="22225">
            <a:solidFill>
              <a:srgbClr val="B8BFC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9" y="1965960"/>
            <a:ext cx="3154680" cy="9601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B45309"/>
                </a:solidFill>
                <a:latin typeface="Calibri"/>
              </a:rPr>
              <a:t>Inventario y cobros sueltos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9" y="2971800"/>
            <a:ext cx="3154680" cy="1645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>
                <a:solidFill>
                  <a:srgbClr val="1F2933"/>
                </a:solidFill>
                <a:latin typeface="Calibri"/>
              </a:rPr>
              <a:t>Sin stock mínimo ni facturación unificada, no se sabe qué ingresa ni qué falta en cada sede.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120640"/>
            <a:ext cx="10881360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B45309"/>
                </a:solidFill>
                <a:latin typeface="Calibri"/>
              </a:rPr>
              <a:t>Objetivo: </a:t>
            </a:r>
            <a:r>
              <a:rPr sz="2600" b="0">
                <a:solidFill>
                  <a:srgbClr val="1F2933"/>
                </a:solidFill>
                <a:latin typeface="Calibri"/>
              </a:rPr>
              <a:t>una sola base de datos relacional, en 3FN, que se consulte desde una aplicación web.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8813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B45309"/>
                </a:solidFill>
                <a:latin typeface="Calibri"/>
              </a:rPr>
              <a:t>ALCANCE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1792"/>
            <a:ext cx="1088136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>
                <a:solidFill>
                  <a:srgbClr val="1F2933"/>
                </a:solidFill>
                <a:latin typeface="Calibri"/>
              </a:rPr>
              <a:t>Qué incluye y qué no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481328"/>
            <a:ext cx="1097280" cy="0"/>
          </a:xfrm>
          <a:prstGeom prst="line">
            <a:avLst/>
          </a:prstGeom>
          <a:ln w="38100">
            <a:solidFill>
              <a:srgbClr val="B45309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5B6670"/>
                </a:solidFill>
                <a:latin typeface="Calibri"/>
              </a:rPr>
              <a:t>SIGEVET · Bases de Datos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5B6670"/>
                </a:solidFill>
                <a:latin typeface="Calibr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6309360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B45309"/>
                </a:solidFill>
                <a:latin typeface="Calibri"/>
              </a:rPr>
              <a:t>Incluye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7440"/>
            <a:ext cx="6400800" cy="3840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 marL="292608" indent="-292608">
              <a:lnSpc>
                <a:spcPct val="100000"/>
              </a:lnSpc>
              <a:spcAft>
                <a:spcPts val="1000"/>
              </a:spcAft>
              <a:buChar char="•"/>
            </a:pPr>
            <a:r>
              <a:rPr sz="2400" b="0">
                <a:solidFill>
                  <a:srgbClr val="1F2933"/>
                </a:solidFill>
                <a:latin typeface="Calibri"/>
              </a:rPr>
              <a:t>Cinco sedes, cada una con su director</a:t>
            </a:r>
          </a:p>
          <a:p>
            <a:pPr algn="l" marL="292608" indent="-292608">
              <a:lnSpc>
                <a:spcPct val="100000"/>
              </a:lnSpc>
              <a:spcAft>
                <a:spcPts val="1000"/>
              </a:spcAft>
              <a:buChar char="•"/>
            </a:pPr>
            <a:r>
              <a:rPr sz="2400" b="0">
                <a:solidFill>
                  <a:srgbClr val="1F2933"/>
                </a:solidFill>
                <a:latin typeface="Calibri"/>
              </a:rPr>
              <a:t>Personal: veterinarios, auxiliares y administrativos</a:t>
            </a:r>
          </a:p>
          <a:p>
            <a:pPr algn="l" marL="292608" indent="-292608">
              <a:lnSpc>
                <a:spcPct val="100000"/>
              </a:lnSpc>
              <a:spcAft>
                <a:spcPts val="1000"/>
              </a:spcAft>
              <a:buChar char="•"/>
            </a:pPr>
            <a:r>
              <a:rPr sz="2400" b="0">
                <a:solidFill>
                  <a:srgbClr val="1F2933"/>
                </a:solidFill>
                <a:latin typeface="Calibri"/>
              </a:rPr>
              <a:t>Clientes, mascotas e historia clínica única</a:t>
            </a:r>
          </a:p>
          <a:p>
            <a:pPr algn="l" marL="292608" indent="-292608">
              <a:lnSpc>
                <a:spcPct val="100000"/>
              </a:lnSpc>
              <a:spcAft>
                <a:spcPts val="1000"/>
              </a:spcAft>
              <a:buChar char="•"/>
            </a:pPr>
            <a:r>
              <a:rPr sz="2400" b="0">
                <a:solidFill>
                  <a:srgbClr val="1F2933"/>
                </a:solidFill>
                <a:latin typeface="Calibri"/>
              </a:rPr>
              <a:t>Citas, consultas y fórmulas</a:t>
            </a:r>
          </a:p>
          <a:p>
            <a:pPr algn="l" marL="292608" indent="-292608">
              <a:lnSpc>
                <a:spcPct val="100000"/>
              </a:lnSpc>
              <a:spcAft>
                <a:spcPts val="1000"/>
              </a:spcAft>
              <a:buChar char="•"/>
            </a:pPr>
            <a:r>
              <a:rPr sz="2400" b="0">
                <a:solidFill>
                  <a:srgbClr val="1F2933"/>
                </a:solidFill>
                <a:latin typeface="Calibri"/>
              </a:rPr>
              <a:t>Inventario por sede y facturación</a:t>
            </a:r>
          </a:p>
          <a:p>
            <a:pPr algn="l" marL="292608" indent="-292608">
              <a:lnSpc>
                <a:spcPct val="100000"/>
              </a:lnSpc>
              <a:spcAft>
                <a:spcPts val="1000"/>
              </a:spcAft>
              <a:buChar char="•"/>
            </a:pPr>
            <a:r>
              <a:rPr sz="2400" b="0">
                <a:solidFill>
                  <a:srgbClr val="1F2933"/>
                </a:solidFill>
                <a:latin typeface="Calibri"/>
              </a:rPr>
              <a:t>Consulta web de solo lectura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0" y="1828800"/>
            <a:ext cx="0" cy="4114800"/>
          </a:xfrm>
          <a:prstGeom prst="line">
            <a:avLst/>
          </a:prstGeom>
          <a:ln w="19050">
            <a:solidFill>
              <a:srgbClr val="B8BFC6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7589520" y="1783080"/>
            <a:ext cx="4023360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5B6670"/>
                </a:solidFill>
                <a:latin typeface="Calibri"/>
              </a:rPr>
              <a:t>No incluye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2377440"/>
            <a:ext cx="4023360" cy="3840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 marL="292608" indent="-292608">
              <a:lnSpc>
                <a:spcPct val="100000"/>
              </a:lnSpc>
              <a:spcAft>
                <a:spcPts val="1000"/>
              </a:spcAft>
              <a:buChar char="•"/>
            </a:pPr>
            <a:r>
              <a:rPr sz="2400" b="0">
                <a:solidFill>
                  <a:srgbClr val="1F2933"/>
                </a:solidFill>
                <a:latin typeface="Calibri"/>
              </a:rPr>
              <a:t>DIAN, nómina ni contabilidad</a:t>
            </a:r>
          </a:p>
          <a:p>
            <a:pPr algn="l" marL="292608" indent="-292608">
              <a:lnSpc>
                <a:spcPct val="100000"/>
              </a:lnSpc>
              <a:spcAft>
                <a:spcPts val="1000"/>
              </a:spcAft>
              <a:buChar char="•"/>
            </a:pPr>
            <a:r>
              <a:rPr sz="2400" b="0">
                <a:solidFill>
                  <a:srgbClr val="1F2933"/>
                </a:solidFill>
                <a:latin typeface="Calibri"/>
              </a:rPr>
              <a:t>Pagos en línea ni compras a proveedores</a:t>
            </a:r>
          </a:p>
          <a:p>
            <a:pPr algn="l" marL="292608" indent="-292608">
              <a:lnSpc>
                <a:spcPct val="100000"/>
              </a:lnSpc>
              <a:spcAft>
                <a:spcPts val="1000"/>
              </a:spcAft>
              <a:buChar char="•"/>
            </a:pPr>
            <a:r>
              <a:rPr sz="2400" b="0">
                <a:solidFill>
                  <a:srgbClr val="1F2933"/>
                </a:solidFill>
                <a:latin typeface="Calibri"/>
              </a:rPr>
              <a:t>Autenticación ni aplicación móvil</a:t>
            </a:r>
          </a:p>
          <a:p>
            <a:pPr algn="l" marL="292608" indent="-292608">
              <a:lnSpc>
                <a:spcPct val="100000"/>
              </a:lnSpc>
              <a:spcAft>
                <a:spcPts val="1000"/>
              </a:spcAft>
              <a:buChar char="•"/>
            </a:pPr>
            <a:r>
              <a:rPr sz="2400" b="0">
                <a:solidFill>
                  <a:srgbClr val="1F2933"/>
                </a:solidFill>
                <a:latin typeface="Calibri"/>
              </a:rPr>
              <a:t>Alta disponibilidad ni réplicas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8813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B45309"/>
                </a:solidFill>
                <a:latin typeface="Calibri"/>
              </a:rPr>
              <a:t>MODELO ENTIDAD-RELACIÓN · CHEN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1792"/>
            <a:ext cx="1088136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>
                <a:solidFill>
                  <a:srgbClr val="1F2933"/>
                </a:solidFill>
                <a:latin typeface="Calibri"/>
              </a:rPr>
              <a:t>18 entidades y 26 relaciones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481328"/>
            <a:ext cx="1097280" cy="0"/>
          </a:xfrm>
          <a:prstGeom prst="line">
            <a:avLst/>
          </a:prstGeom>
          <a:ln w="38100">
            <a:solidFill>
              <a:srgbClr val="B45309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5B6670"/>
                </a:solidFill>
                <a:latin typeface="Calibri"/>
              </a:rPr>
              <a:t>SIGEVET · Bases de Datos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5B6670"/>
                </a:solidFill>
                <a:latin typeface="Calibri"/>
              </a:rPr>
              <a:t>4</a:t>
            </a:r>
          </a:p>
        </p:txBody>
      </p:sp>
      <p:pic>
        <p:nvPicPr>
          <p:cNvPr id="7" name="Picture 6" descr="ch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37360"/>
            <a:ext cx="6949440" cy="4450314"/>
          </a:xfrm>
          <a:prstGeom prst="rect">
            <a:avLst/>
          </a:prstGeom>
          <a:ln w="12700">
            <a:solidFill>
              <a:srgbClr val="B8BFC6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046720" y="1828800"/>
            <a:ext cx="3566160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000" b="1">
                <a:solidFill>
                  <a:srgbClr val="B45309"/>
                </a:solidFill>
                <a:latin typeface="Calibri"/>
              </a:rPr>
              <a:t>5</a:t>
            </a:r>
            <a:r>
              <a:rPr sz="2600" b="0">
                <a:solidFill>
                  <a:srgbClr val="1F2933"/>
                </a:solidFill>
                <a:latin typeface="Calibri"/>
              </a:rPr>
              <a:t>  de 1:1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743200"/>
            <a:ext cx="3566160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000" b="1">
                <a:solidFill>
                  <a:srgbClr val="B45309"/>
                </a:solidFill>
                <a:latin typeface="Calibri"/>
              </a:rPr>
              <a:t>18</a:t>
            </a:r>
            <a:r>
              <a:rPr sz="2600" b="0">
                <a:solidFill>
                  <a:srgbClr val="1F2933"/>
                </a:solidFill>
                <a:latin typeface="Calibri"/>
              </a:rPr>
              <a:t>  de 1:N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3657600"/>
            <a:ext cx="3566160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000" b="1">
                <a:solidFill>
                  <a:srgbClr val="B45309"/>
                </a:solidFill>
                <a:latin typeface="Calibri"/>
              </a:rPr>
              <a:t>3</a:t>
            </a:r>
            <a:r>
              <a:rPr sz="2600" b="0">
                <a:solidFill>
                  <a:srgbClr val="1F2933"/>
                </a:solidFill>
                <a:latin typeface="Calibri"/>
              </a:rPr>
              <a:t>  de N:M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4846320"/>
            <a:ext cx="356616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>
                <a:solidFill>
                  <a:srgbClr val="5B6670"/>
                </a:solidFill>
                <a:latin typeface="Calibri"/>
              </a:rPr>
              <a:t>DETALLE_FACTURA es la entidad débil de FACTURA.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8813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B45309"/>
                </a:solidFill>
                <a:latin typeface="Calibri"/>
              </a:rPr>
              <a:t>MODELO ENTIDAD-RELACIÓN EXTENDIDO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1792"/>
            <a:ext cx="1088136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>
                <a:solidFill>
                  <a:srgbClr val="1F2933"/>
                </a:solidFill>
                <a:latin typeface="Calibri"/>
              </a:rPr>
              <a:t>EMPLEADO se especializa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481328"/>
            <a:ext cx="1097280" cy="0"/>
          </a:xfrm>
          <a:prstGeom prst="line">
            <a:avLst/>
          </a:prstGeom>
          <a:ln w="38100">
            <a:solidFill>
              <a:srgbClr val="B45309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5B6670"/>
                </a:solidFill>
                <a:latin typeface="Calibri"/>
              </a:rPr>
              <a:t>SIGEVET · Bases de Datos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5B6670"/>
                </a:solidFill>
                <a:latin typeface="Calibri"/>
              </a:rPr>
              <a:t>5</a:t>
            </a:r>
          </a:p>
        </p:txBody>
      </p:sp>
      <p:pic>
        <p:nvPicPr>
          <p:cNvPr id="7" name="Picture 6" descr="e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37360"/>
            <a:ext cx="6329633" cy="4434840"/>
          </a:xfrm>
          <a:prstGeom prst="rect">
            <a:avLst/>
          </a:prstGeom>
          <a:ln w="12700">
            <a:solidFill>
              <a:srgbClr val="B8BFC6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589520" y="1828800"/>
            <a:ext cx="4114800" cy="43891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 marL="292608" indent="-292608">
              <a:lnSpc>
                <a:spcPct val="100000"/>
              </a:lnSpc>
              <a:spcAft>
                <a:spcPts val="1200"/>
              </a:spcAft>
              <a:buChar char="•"/>
            </a:pPr>
            <a:r>
              <a:rPr sz="2400" b="0">
                <a:solidFill>
                  <a:srgbClr val="1F2933"/>
                </a:solidFill>
                <a:latin typeface="Calibri"/>
              </a:rPr>
              <a:t>VETERINARIO y AUXILIAR son subclases de EMPLEADO</a:t>
            </a:r>
          </a:p>
          <a:p>
            <a:pPr algn="l" marL="292608" indent="-292608">
              <a:lnSpc>
                <a:spcPct val="100000"/>
              </a:lnSpc>
              <a:spcAft>
                <a:spcPts val="1200"/>
              </a:spcAft>
              <a:buChar char="•"/>
            </a:pPr>
            <a:r>
              <a:rPr sz="2400" b="0">
                <a:solidFill>
                  <a:srgbClr val="1F2933"/>
                </a:solidFill>
                <a:latin typeface="Calibri"/>
              </a:rPr>
              <a:t>Especialización disyunta (d) y parcial</a:t>
            </a:r>
          </a:p>
          <a:p>
            <a:pPr algn="l" marL="292608" indent="-292608">
              <a:lnSpc>
                <a:spcPct val="100000"/>
              </a:lnSpc>
              <a:spcAft>
                <a:spcPts val="1200"/>
              </a:spcAft>
              <a:buChar char="•"/>
            </a:pPr>
            <a:r>
              <a:rPr sz="2400" b="0">
                <a:solidFill>
                  <a:srgbClr val="1F2933"/>
                </a:solidFill>
                <a:latin typeface="Calibri"/>
              </a:rPr>
              <a:t>Los administrativos (ADM) quedan en EMPLEADO</a:t>
            </a:r>
          </a:p>
          <a:p>
            <a:pPr algn="l" marL="292608" indent="-292608">
              <a:lnSpc>
                <a:spcPct val="100000"/>
              </a:lnSpc>
              <a:spcAft>
                <a:spcPts val="1200"/>
              </a:spcAft>
              <a:buChar char="•"/>
            </a:pPr>
            <a:r>
              <a:rPr sz="2400" b="0">
                <a:solidFill>
                  <a:srgbClr val="1F2933"/>
                </a:solidFill>
                <a:latin typeface="Calibri"/>
              </a:rPr>
              <a:t>En tablas: una por superclase y una por subclase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8813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B45309"/>
                </a:solidFill>
                <a:latin typeface="Calibri"/>
              </a:rPr>
              <a:t>MODELO ENTIDAD-RELACIÓN · BARKER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1792"/>
            <a:ext cx="1088136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>
                <a:solidFill>
                  <a:srgbClr val="1F2933"/>
                </a:solidFill>
                <a:latin typeface="Calibri"/>
              </a:rPr>
              <a:t>Notación Barker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481328"/>
            <a:ext cx="1097280" cy="0"/>
          </a:xfrm>
          <a:prstGeom prst="line">
            <a:avLst/>
          </a:prstGeom>
          <a:ln w="38100">
            <a:solidFill>
              <a:srgbClr val="B45309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5B6670"/>
                </a:solidFill>
                <a:latin typeface="Calibri"/>
              </a:rPr>
              <a:t>SIGEVET · Bases de Datos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5B6670"/>
                </a:solidFill>
                <a:latin typeface="Calibri"/>
              </a:rPr>
              <a:t>6</a:t>
            </a:r>
          </a:p>
        </p:txBody>
      </p:sp>
      <p:pic>
        <p:nvPicPr>
          <p:cNvPr id="7" name="Picture 6" descr="bark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91640"/>
            <a:ext cx="5698183" cy="4617720"/>
          </a:xfrm>
          <a:prstGeom prst="rect">
            <a:avLst/>
          </a:prstGeom>
          <a:ln w="12700">
            <a:solidFill>
              <a:srgbClr val="B8BFC6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858000" y="1828800"/>
            <a:ext cx="4754880" cy="43891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 marL="292608" indent="-292608">
              <a:lnSpc>
                <a:spcPct val="100000"/>
              </a:lnSpc>
              <a:spcAft>
                <a:spcPts val="1200"/>
              </a:spcAft>
              <a:buChar char="•"/>
            </a:pPr>
            <a:r>
              <a:rPr sz="2400" b="0">
                <a:solidFill>
                  <a:srgbClr val="1F2933"/>
                </a:solidFill>
                <a:latin typeface="Calibri"/>
              </a:rPr>
              <a:t>Las 22 tablas con sus atributos</a:t>
            </a:r>
          </a:p>
          <a:p>
            <a:pPr algn="l" marL="292608" indent="-292608">
              <a:lnSpc>
                <a:spcPct val="100000"/>
              </a:lnSpc>
              <a:spcAft>
                <a:spcPts val="1200"/>
              </a:spcAft>
              <a:buChar char="•"/>
            </a:pPr>
            <a:r>
              <a:rPr sz="2400" b="0">
                <a:solidFill>
                  <a:srgbClr val="1F2933"/>
                </a:solidFill>
                <a:latin typeface="Calibri"/>
              </a:rPr>
              <a:t># identificador único, * obligatorio, o opcional</a:t>
            </a:r>
          </a:p>
          <a:p>
            <a:pPr algn="l" marL="292608" indent="-292608">
              <a:lnSpc>
                <a:spcPct val="100000"/>
              </a:lnSpc>
              <a:spcAft>
                <a:spcPts val="1200"/>
              </a:spcAft>
              <a:buChar char="•"/>
            </a:pPr>
            <a:r>
              <a:rPr sz="2400" b="0">
                <a:solidFill>
                  <a:srgbClr val="1F2933"/>
                </a:solidFill>
                <a:latin typeface="Calibri"/>
              </a:rPr>
              <a:t>Línea continua: participación obligatoria</a:t>
            </a:r>
          </a:p>
          <a:p>
            <a:pPr algn="l" marL="292608" indent="-292608">
              <a:lnSpc>
                <a:spcPct val="100000"/>
              </a:lnSpc>
              <a:spcAft>
                <a:spcPts val="1200"/>
              </a:spcAft>
              <a:buChar char="•"/>
            </a:pPr>
            <a:r>
              <a:rPr sz="2400" b="0">
                <a:solidFill>
                  <a:srgbClr val="1F2933"/>
                </a:solidFill>
                <a:latin typeface="Calibri"/>
              </a:rPr>
              <a:t>Línea discontinua: participación opcional</a:t>
            </a:r>
          </a:p>
          <a:p>
            <a:pPr algn="l" marL="292608" indent="-292608">
              <a:lnSpc>
                <a:spcPct val="100000"/>
              </a:lnSpc>
              <a:spcAft>
                <a:spcPts val="1200"/>
              </a:spcAft>
              <a:buChar char="•"/>
            </a:pPr>
            <a:r>
              <a:rPr sz="2400" b="0">
                <a:solidFill>
                  <a:srgbClr val="1F2933"/>
                </a:solidFill>
                <a:latin typeface="Calibri"/>
              </a:rPr>
              <a:t>Pata de gallina: uno o más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8813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B45309"/>
                </a:solidFill>
                <a:latin typeface="Calibri"/>
              </a:rPr>
              <a:t>MODELO ENTIDAD-RELACIÓN · CROW'S FOOT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1792"/>
            <a:ext cx="1088136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>
                <a:solidFill>
                  <a:srgbClr val="1F2933"/>
                </a:solidFill>
                <a:latin typeface="Calibri"/>
              </a:rPr>
              <a:t>Notación Crow's Foot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481328"/>
            <a:ext cx="1097280" cy="0"/>
          </a:xfrm>
          <a:prstGeom prst="line">
            <a:avLst/>
          </a:prstGeom>
          <a:ln w="38100">
            <a:solidFill>
              <a:srgbClr val="B45309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5B6670"/>
                </a:solidFill>
                <a:latin typeface="Calibri"/>
              </a:rPr>
              <a:t>SIGEVET · Bases de Datos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5B6670"/>
                </a:solidFill>
                <a:latin typeface="Calibri"/>
              </a:rPr>
              <a:t>7</a:t>
            </a:r>
          </a:p>
        </p:txBody>
      </p:sp>
      <p:pic>
        <p:nvPicPr>
          <p:cNvPr id="7" name="Picture 6" descr="crow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91640"/>
            <a:ext cx="5663242" cy="4617720"/>
          </a:xfrm>
          <a:prstGeom prst="rect">
            <a:avLst/>
          </a:prstGeom>
          <a:ln w="12700">
            <a:solidFill>
              <a:srgbClr val="B8BFC6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858000" y="1828800"/>
            <a:ext cx="4754880" cy="43891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 marL="292608" indent="-292608">
              <a:lnSpc>
                <a:spcPct val="100000"/>
              </a:lnSpc>
              <a:spcAft>
                <a:spcPts val="1200"/>
              </a:spcAft>
              <a:buChar char="•"/>
            </a:pPr>
            <a:r>
              <a:rPr sz="2400" b="0">
                <a:solidFill>
                  <a:srgbClr val="1F2933"/>
                </a:solidFill>
                <a:latin typeface="Calibri"/>
              </a:rPr>
              <a:t>Dos barras: uno y solo uno</a:t>
            </a:r>
          </a:p>
          <a:p>
            <a:pPr algn="l" marL="292608" indent="-292608">
              <a:lnSpc>
                <a:spcPct val="100000"/>
              </a:lnSpc>
              <a:spcAft>
                <a:spcPts val="1200"/>
              </a:spcAft>
              <a:buChar char="•"/>
            </a:pPr>
            <a:r>
              <a:rPr sz="2400" b="0">
                <a:solidFill>
                  <a:srgbClr val="1F2933"/>
                </a:solidFill>
                <a:latin typeface="Calibri"/>
              </a:rPr>
              <a:t>Círculo y barra: cero o uno</a:t>
            </a:r>
          </a:p>
          <a:p>
            <a:pPr algn="l" marL="292608" indent="-292608">
              <a:lnSpc>
                <a:spcPct val="100000"/>
              </a:lnSpc>
              <a:spcAft>
                <a:spcPts val="1200"/>
              </a:spcAft>
              <a:buChar char="•"/>
            </a:pPr>
            <a:r>
              <a:rPr sz="2400" b="0">
                <a:solidFill>
                  <a:srgbClr val="1F2933"/>
                </a:solidFill>
                <a:latin typeface="Calibri"/>
              </a:rPr>
              <a:t>Barra y pata de gallina: uno o muchos</a:t>
            </a:r>
          </a:p>
          <a:p>
            <a:pPr algn="l" marL="292608" indent="-292608">
              <a:lnSpc>
                <a:spcPct val="100000"/>
              </a:lnSpc>
              <a:spcAft>
                <a:spcPts val="1200"/>
              </a:spcAft>
              <a:buChar char="•"/>
            </a:pPr>
            <a:r>
              <a:rPr sz="2400" b="0">
                <a:solidFill>
                  <a:srgbClr val="1F2933"/>
                </a:solidFill>
                <a:latin typeface="Calibri"/>
              </a:rPr>
              <a:t>Círculo y pata de gallina: cero o muchos</a:t>
            </a:r>
          </a:p>
          <a:p>
            <a:pPr algn="l" marL="292608" indent="-292608">
              <a:lnSpc>
                <a:spcPct val="100000"/>
              </a:lnSpc>
              <a:spcAft>
                <a:spcPts val="1200"/>
              </a:spcAft>
              <a:buChar char="•"/>
            </a:pPr>
            <a:r>
              <a:rPr sz="2400" b="0">
                <a:solidFill>
                  <a:srgbClr val="1F2933"/>
                </a:solidFill>
                <a:latin typeface="Calibri"/>
              </a:rPr>
              <a:t>Se marcan las PK, las FK y los UNIQUE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8813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B45309"/>
                </a:solidFill>
                <a:latin typeface="Calibri"/>
              </a:rPr>
              <a:t>MODELO RELACIONAL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1792"/>
            <a:ext cx="1088136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>
                <a:solidFill>
                  <a:srgbClr val="1F2933"/>
                </a:solidFill>
                <a:latin typeface="Calibri"/>
              </a:rPr>
              <a:t>22 tablas y 30 llaves foráneas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481328"/>
            <a:ext cx="1097280" cy="0"/>
          </a:xfrm>
          <a:prstGeom prst="line">
            <a:avLst/>
          </a:prstGeom>
          <a:ln w="38100">
            <a:solidFill>
              <a:srgbClr val="B45309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5B6670"/>
                </a:solidFill>
                <a:latin typeface="Calibri"/>
              </a:rPr>
              <a:t>SIGEVET · Bases de Datos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5B6670"/>
                </a:solidFill>
                <a:latin typeface="Calibri"/>
              </a:rPr>
              <a:t>8</a:t>
            </a:r>
          </a:p>
        </p:txBody>
      </p:sp>
      <p:pic>
        <p:nvPicPr>
          <p:cNvPr id="7" name="Picture 6" descr="relacio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91640"/>
            <a:ext cx="6266315" cy="4572000"/>
          </a:xfrm>
          <a:prstGeom prst="rect">
            <a:avLst/>
          </a:prstGeom>
          <a:ln w="12700">
            <a:solidFill>
              <a:srgbClr val="B8BFC6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223760" y="1828800"/>
            <a:ext cx="4389120" cy="43891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 marL="292608" indent="-292608">
              <a:lnSpc>
                <a:spcPct val="100000"/>
              </a:lnSpc>
              <a:spcAft>
                <a:spcPts val="1400"/>
              </a:spcAft>
              <a:buChar char="•"/>
            </a:pPr>
            <a:r>
              <a:rPr sz="2200" b="0">
                <a:solidFill>
                  <a:srgbClr val="1F2933"/>
                </a:solidFill>
                <a:latin typeface="Calibri"/>
              </a:rPr>
              <a:t>Una tabla por cada N:M: VETERINARIO_ESPECIALIDAD, PRESCRIPCION e INVENTARIO</a:t>
            </a:r>
          </a:p>
          <a:p>
            <a:pPr algn="l" marL="292608" indent="-292608">
              <a:lnSpc>
                <a:spcPct val="100000"/>
              </a:lnSpc>
              <a:spcAft>
                <a:spcPts val="1400"/>
              </a:spcAft>
              <a:buChar char="•"/>
            </a:pPr>
            <a:r>
              <a:rPr sz="2200" b="0">
                <a:solidFill>
                  <a:srgbClr val="1F2933"/>
                </a:solidFill>
                <a:latin typeface="Calibri"/>
              </a:rPr>
              <a:t>TELEFONO_CLIENTE guarda el atributo multivaluado</a:t>
            </a:r>
          </a:p>
          <a:p>
            <a:pPr algn="l" marL="292608" indent="-292608">
              <a:lnSpc>
                <a:spcPct val="100000"/>
              </a:lnSpc>
              <a:spcAft>
                <a:spcPts val="1400"/>
              </a:spcAft>
              <a:buChar char="•"/>
            </a:pPr>
            <a:r>
              <a:rPr sz="2200" b="0">
                <a:solidFill>
                  <a:srgbClr val="1F2933"/>
                </a:solidFill>
                <a:latin typeface="Calibri"/>
              </a:rPr>
              <a:t>SEDE y EMPLEADO se referencian entre sí: la FK del director se agrega al final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8813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B45309"/>
                </a:solidFill>
                <a:latin typeface="Calibri"/>
              </a:rPr>
              <a:t>NORMALIZACIÓN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1792"/>
            <a:ext cx="1088136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>
                <a:solidFill>
                  <a:srgbClr val="1F2933"/>
                </a:solidFill>
                <a:latin typeface="Calibri"/>
              </a:rPr>
              <a:t>Hasta la Tercera Forma Normal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481328"/>
            <a:ext cx="1097280" cy="0"/>
          </a:xfrm>
          <a:prstGeom prst="line">
            <a:avLst/>
          </a:prstGeom>
          <a:ln w="38100">
            <a:solidFill>
              <a:srgbClr val="B45309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5B6670"/>
                </a:solidFill>
                <a:latin typeface="Calibri"/>
              </a:rPr>
              <a:t>SIGEVET · Bases de Datos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5B6670"/>
                </a:solidFill>
                <a:latin typeface="Calibri"/>
              </a:rPr>
              <a:t>9</a:t>
            </a:r>
          </a:p>
        </p:txBody>
      </p:sp>
      <p:pic>
        <p:nvPicPr>
          <p:cNvPr id="7" name="Picture 6" descr="normalizac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1645920"/>
            <a:ext cx="9418320" cy="3857889"/>
          </a:xfrm>
          <a:prstGeom prst="rect">
            <a:avLst/>
          </a:prstGeom>
          <a:ln w="12700">
            <a:solidFill>
              <a:srgbClr val="B8BFC6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40080" y="5577840"/>
            <a:ext cx="3566160" cy="7772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B45309"/>
                </a:solidFill>
                <a:latin typeface="Calibri"/>
              </a:rPr>
              <a:t>1FN: </a:t>
            </a:r>
            <a:r>
              <a:rPr sz="2000" b="0">
                <a:solidFill>
                  <a:srgbClr val="1F2933"/>
                </a:solidFill>
                <a:latin typeface="Calibri"/>
              </a:rPr>
              <a:t>los teléfonos pasan a su propia tabla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5577840"/>
            <a:ext cx="3566160" cy="7772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B45309"/>
                </a:solidFill>
                <a:latin typeface="Calibri"/>
              </a:rPr>
              <a:t>2FN: </a:t>
            </a:r>
            <a:r>
              <a:rPr sz="2000" b="0">
                <a:solidFill>
                  <a:srgbClr val="1F2933"/>
                </a:solidFill>
                <a:latin typeface="Calibri"/>
              </a:rPr>
              <a:t>la factura se separa de sus líneas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59" y="5577840"/>
            <a:ext cx="3566160" cy="7772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B45309"/>
                </a:solidFill>
                <a:latin typeface="Calibri"/>
              </a:rPr>
              <a:t>3FN: </a:t>
            </a:r>
            <a:r>
              <a:rPr sz="2000" b="0">
                <a:solidFill>
                  <a:srgbClr val="1F2933"/>
                </a:solidFill>
                <a:latin typeface="Calibri"/>
              </a:rPr>
              <a:t>ciudad → departamento y raza → especie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8813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B45309"/>
                </a:solidFill>
                <a:latin typeface="Calibri"/>
              </a:rPr>
              <a:t>BASE DE DATOS · MYSQL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1792"/>
            <a:ext cx="1088136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>
                <a:solidFill>
                  <a:srgbClr val="1F2933"/>
                </a:solidFill>
                <a:latin typeface="Calibri"/>
              </a:rPr>
              <a:t>22 tablas en MySQL 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481328"/>
            <a:ext cx="1097280" cy="0"/>
          </a:xfrm>
          <a:prstGeom prst="line">
            <a:avLst/>
          </a:prstGeom>
          <a:ln w="38100">
            <a:solidFill>
              <a:srgbClr val="B45309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5B6670"/>
                </a:solidFill>
                <a:latin typeface="Calibri"/>
              </a:rPr>
              <a:t>SIGEVET · Bases de Datos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5B6670"/>
                </a:solidFill>
                <a:latin typeface="Calibri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3520440" cy="1783080"/>
          </a:xfrm>
          <a:prstGeom prst="roundRect">
            <a:avLst>
              <a:gd name="adj" fmla="val 6000"/>
            </a:avLst>
          </a:prstGeom>
          <a:noFill/>
          <a:ln w="22225">
            <a:solidFill>
              <a:srgbClr val="B8BFC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892807"/>
            <a:ext cx="3246120" cy="9144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800" b="1">
                <a:solidFill>
                  <a:srgbClr val="B45309"/>
                </a:solidFill>
                <a:latin typeface="Calibri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88920"/>
            <a:ext cx="324612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>
                <a:solidFill>
                  <a:srgbClr val="1F2933"/>
                </a:solidFill>
                <a:latin typeface="Calibri"/>
              </a:rPr>
              <a:t>tablas en 3FN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783080"/>
            <a:ext cx="3520440" cy="1783080"/>
          </a:xfrm>
          <a:prstGeom prst="roundRect">
            <a:avLst>
              <a:gd name="adj" fmla="val 6000"/>
            </a:avLst>
          </a:prstGeom>
          <a:noFill/>
          <a:ln w="22225">
            <a:solidFill>
              <a:srgbClr val="B8BFC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892807"/>
            <a:ext cx="3246120" cy="9144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800" b="1">
                <a:solidFill>
                  <a:srgbClr val="B45309"/>
                </a:solidFill>
                <a:latin typeface="Calibri"/>
              </a:rPr>
              <a:t>113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788920"/>
            <a:ext cx="324612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>
                <a:solidFill>
                  <a:srgbClr val="1F2933"/>
                </a:solidFill>
                <a:latin typeface="Calibri"/>
              </a:rPr>
              <a:t>restricciones con nombre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1783080"/>
            <a:ext cx="3520440" cy="1783080"/>
          </a:xfrm>
          <a:prstGeom prst="roundRect">
            <a:avLst>
              <a:gd name="adj" fmla="val 6000"/>
            </a:avLst>
          </a:prstGeom>
          <a:noFill/>
          <a:ln w="22225">
            <a:solidFill>
              <a:srgbClr val="B8BFC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79" y="1892807"/>
            <a:ext cx="3246120" cy="9144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800" b="1">
                <a:solidFill>
                  <a:srgbClr val="B45309"/>
                </a:solidFill>
                <a:latin typeface="Calibri"/>
              </a:rPr>
              <a:t>1.091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79" y="2788920"/>
            <a:ext cx="324612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>
                <a:solidFill>
                  <a:srgbClr val="1F2933"/>
                </a:solidFill>
                <a:latin typeface="Calibri"/>
              </a:rPr>
              <a:t>registros de prueba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3520440" cy="1783080"/>
          </a:xfrm>
          <a:prstGeom prst="roundRect">
            <a:avLst>
              <a:gd name="adj" fmla="val 6000"/>
            </a:avLst>
          </a:prstGeom>
          <a:noFill/>
          <a:ln w="22225">
            <a:solidFill>
              <a:srgbClr val="B8BFC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858768"/>
            <a:ext cx="3246120" cy="9144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800" b="1">
                <a:solidFill>
                  <a:srgbClr val="B45309"/>
                </a:solidFill>
                <a:latin typeface="Calibri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754879"/>
            <a:ext cx="324612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>
                <a:solidFill>
                  <a:srgbClr val="1F2933"/>
                </a:solidFill>
                <a:latin typeface="Calibri"/>
              </a:rPr>
              <a:t>vistas y 2 funciones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3400" y="3749039"/>
            <a:ext cx="3520440" cy="1783080"/>
          </a:xfrm>
          <a:prstGeom prst="roundRect">
            <a:avLst>
              <a:gd name="adj" fmla="val 6000"/>
            </a:avLst>
          </a:prstGeom>
          <a:noFill/>
          <a:ln w="22225">
            <a:solidFill>
              <a:srgbClr val="B8BFC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0" y="3858768"/>
            <a:ext cx="3246120" cy="9144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800" b="1">
                <a:solidFill>
                  <a:srgbClr val="B45309"/>
                </a:solidFill>
                <a:latin typeface="Calibri"/>
              </a:rPr>
              <a:t>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4754879"/>
            <a:ext cx="324612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>
                <a:solidFill>
                  <a:srgbClr val="1F2933"/>
                </a:solidFill>
                <a:latin typeface="Calibri"/>
              </a:rPr>
              <a:t>disparadores y 3 procedimientos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19" y="3749039"/>
            <a:ext cx="3520440" cy="1783080"/>
          </a:xfrm>
          <a:prstGeom prst="roundRect">
            <a:avLst>
              <a:gd name="adj" fmla="val 6000"/>
            </a:avLst>
          </a:prstGeom>
          <a:noFill/>
          <a:ln w="22225">
            <a:solidFill>
              <a:srgbClr val="B8BFC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83879" y="3858768"/>
            <a:ext cx="3246120" cy="9144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800" b="1">
                <a:solidFill>
                  <a:srgbClr val="B45309"/>
                </a:solidFill>
                <a:latin typeface="Calibri"/>
              </a:rPr>
              <a:t>10/10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79" y="4754879"/>
            <a:ext cx="324612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>
                <a:solidFill>
                  <a:srgbClr val="1F2933"/>
                </a:solidFill>
                <a:latin typeface="Calibri"/>
              </a:rPr>
              <a:t>pruebas de reglas en 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>
                <a:solidFill>
                  <a:srgbClr val="5B6670"/>
                </a:solidFill>
                <a:latin typeface="Calibri"/>
              </a:rPr>
              <a:t>MySQL 8.4 LTS · vetdb es el dueño de la base y vet_app solo puede leer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8813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B45309"/>
                </a:solidFill>
                <a:latin typeface="Calibri"/>
              </a:rPr>
              <a:t>INFRAESTRUCTURA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1792"/>
            <a:ext cx="1088136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>
                <a:solidFill>
                  <a:srgbClr val="1F2933"/>
                </a:solidFill>
                <a:latin typeface="Calibri"/>
              </a:rPr>
              <a:t>Servidor Linux, VM y base de datos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481328"/>
            <a:ext cx="1097280" cy="0"/>
          </a:xfrm>
          <a:prstGeom prst="line">
            <a:avLst/>
          </a:prstGeom>
          <a:ln w="38100">
            <a:solidFill>
              <a:srgbClr val="B45309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5B6670"/>
                </a:solidFill>
                <a:latin typeface="Calibri"/>
              </a:rPr>
              <a:t>SIGEVET · Bases de Datos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5B6670"/>
                </a:solidFill>
                <a:latin typeface="Calibri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011680"/>
            <a:ext cx="3291840" cy="2468880"/>
          </a:xfrm>
          <a:prstGeom prst="roundRect">
            <a:avLst>
              <a:gd name="adj" fmla="val 6000"/>
            </a:avLst>
          </a:prstGeom>
          <a:noFill/>
          <a:ln w="25400">
            <a:solidFill>
              <a:srgbClr val="1F293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48840"/>
            <a:ext cx="2926080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1F2933"/>
                </a:solidFill>
                <a:latin typeface="Calibri"/>
              </a:rPr>
              <a:t>Servidor Linux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43200"/>
            <a:ext cx="2926080" cy="1645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>
                <a:solidFill>
                  <a:srgbClr val="1F2933"/>
                </a:solidFill>
                <a:latin typeface="Calibri"/>
              </a:rPr>
              <a:t>Fedora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>
                <a:solidFill>
                  <a:srgbClr val="1F2933"/>
                </a:solidFill>
                <a:latin typeface="Calibri"/>
              </a:rPr>
              <a:t>KVM/QEMU con Lima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011680"/>
            <a:ext cx="3566160" cy="2468880"/>
          </a:xfrm>
          <a:prstGeom prst="roundRect">
            <a:avLst>
              <a:gd name="adj" fmla="val 6000"/>
            </a:avLst>
          </a:prstGeom>
          <a:noFill/>
          <a:ln w="25400">
            <a:solidFill>
              <a:srgbClr val="1F293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0" y="2148840"/>
            <a:ext cx="3200400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1F2933"/>
                </a:solidFill>
                <a:latin typeface="Calibri"/>
              </a:rPr>
              <a:t>VM Oracle Linux 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743200"/>
            <a:ext cx="3200400" cy="1645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>
                <a:solidFill>
                  <a:srgbClr val="1F2933"/>
                </a:solidFill>
                <a:latin typeface="Calibri"/>
              </a:rPr>
              <a:t>MySQL 8.4 · base sigevet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>
                <a:solidFill>
                  <a:srgbClr val="1F2933"/>
                </a:solidFill>
                <a:latin typeface="Calibri"/>
              </a:rPr>
              <a:t>App Spring Boot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>
                <a:solidFill>
                  <a:srgbClr val="1F2933"/>
                </a:solidFill>
                <a:latin typeface="Calibri"/>
              </a:rPr>
              <a:t>Puerto 5000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78240" y="2011680"/>
            <a:ext cx="2834640" cy="2468880"/>
          </a:xfrm>
          <a:prstGeom prst="roundRect">
            <a:avLst>
              <a:gd name="adj" fmla="val 6000"/>
            </a:avLst>
          </a:prstGeom>
          <a:noFill/>
          <a:ln w="25400">
            <a:solidFill>
              <a:srgbClr val="1F293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0" y="2148840"/>
            <a:ext cx="2468880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1F2933"/>
                </a:solidFill>
                <a:latin typeface="Calibri"/>
              </a:rPr>
              <a:t>Quien consulta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2743200"/>
            <a:ext cx="2468880" cy="1645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>
                <a:solidFill>
                  <a:srgbClr val="1F2933"/>
                </a:solidFill>
                <a:latin typeface="Calibri"/>
              </a:rPr>
              <a:t>Navegador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>
                <a:solidFill>
                  <a:srgbClr val="1F2933"/>
                </a:solidFill>
                <a:latin typeface="Calibri"/>
              </a:rPr>
              <a:t>MySQL Workbench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977639" y="3246120"/>
            <a:ext cx="548641" cy="0"/>
          </a:xfrm>
          <a:prstGeom prst="line">
            <a:avLst/>
          </a:prstGeom>
          <a:ln w="28575">
            <a:solidFill>
              <a:srgbClr val="1F2933"/>
            </a:solidFill>
            <a:tailEnd type="arrow" w="lg" len="lg"/>
          </a:ln>
        </p:spPr>
      </p:cxnSp>
      <p:cxnSp>
        <p:nvCxnSpPr>
          <p:cNvPr id="17" name="Connector 16"/>
          <p:cNvCxnSpPr/>
          <p:nvPr/>
        </p:nvCxnSpPr>
        <p:spPr>
          <a:xfrm>
            <a:off x="8183879" y="3246120"/>
            <a:ext cx="548641" cy="0"/>
          </a:xfrm>
          <a:prstGeom prst="line">
            <a:avLst/>
          </a:prstGeom>
          <a:ln w="28575">
            <a:solidFill>
              <a:srgbClr val="1F2933"/>
            </a:solidFill>
            <a:tailEnd type="arrow" w="lg" len="lg"/>
          </a:ln>
        </p:spPr>
      </p:cxnSp>
      <p:sp>
        <p:nvSpPr>
          <p:cNvPr id="18" name="TextBox 17"/>
          <p:cNvSpPr txBox="1"/>
          <p:nvPr/>
        </p:nvSpPr>
        <p:spPr>
          <a:xfrm>
            <a:off x="640080" y="4892040"/>
            <a:ext cx="566928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>
                <a:solidFill>
                  <a:srgbClr val="5B6670"/>
                </a:solidFill>
                <a:latin typeface="Calibri"/>
              </a:rPr>
              <a:t>Un solo comando monta todo: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394960"/>
            <a:ext cx="5852160" cy="731520"/>
          </a:xfrm>
          <a:prstGeom prst="rect">
            <a:avLst/>
          </a:prstGeom>
          <a:noFill/>
          <a:ln w="19050">
            <a:solidFill>
              <a:srgbClr val="B8BFC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5394960"/>
            <a:ext cx="5669280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400" b="0">
                <a:solidFill>
                  <a:srgbClr val="1F2933"/>
                </a:solidFill>
                <a:latin typeface="Courier New"/>
              </a:rPr>
              <a:t>bash vm/migrar_linux.sh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4892040"/>
            <a:ext cx="475488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>
                <a:solidFill>
                  <a:srgbClr val="1F2933"/>
                </a:solidFill>
                <a:latin typeface="Calibri"/>
              </a:rPr>
              <a:t>Crea la VM, instala MySQL, carga la base y deja la app funcionando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8813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B45309"/>
                </a:solidFill>
                <a:latin typeface="Calibri"/>
              </a:rPr>
              <a:t>APLICACIÓN WEB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1792"/>
            <a:ext cx="1088136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>
                <a:solidFill>
                  <a:srgbClr val="1F2933"/>
                </a:solidFill>
                <a:latin typeface="Calibri"/>
              </a:rPr>
              <a:t>Spring Boot, sin ORM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481328"/>
            <a:ext cx="1097280" cy="0"/>
          </a:xfrm>
          <a:prstGeom prst="line">
            <a:avLst/>
          </a:prstGeom>
          <a:ln w="38100">
            <a:solidFill>
              <a:srgbClr val="B45309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5B6670"/>
                </a:solidFill>
                <a:latin typeface="Calibri"/>
              </a:rPr>
              <a:t>SIGEVET · Bases de Datos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5B6670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4572000" cy="43891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 marL="292608" indent="-292608">
              <a:lnSpc>
                <a:spcPct val="100000"/>
              </a:lnSpc>
              <a:spcAft>
                <a:spcPts val="1400"/>
              </a:spcAft>
              <a:buChar char="•"/>
            </a:pPr>
            <a:r>
              <a:rPr sz="2400" b="0">
                <a:solidFill>
                  <a:srgbClr val="1F2933"/>
                </a:solidFill>
                <a:latin typeface="Calibri"/>
              </a:rPr>
              <a:t>Java 21, Spring Boot y Thymeleaf</a:t>
            </a:r>
          </a:p>
          <a:p>
            <a:pPr algn="l" marL="292608" indent="-292608">
              <a:lnSpc>
                <a:spcPct val="100000"/>
              </a:lnSpc>
              <a:spcAft>
                <a:spcPts val="1400"/>
              </a:spcAft>
              <a:buChar char="•"/>
            </a:pPr>
            <a:r>
              <a:rPr sz="2400" b="0">
                <a:solidFill>
                  <a:srgbClr val="1F2933"/>
                </a:solidFill>
                <a:latin typeface="Calibri"/>
              </a:rPr>
              <a:t>SQL escrito a mano con JDBC y PreparedStatement</a:t>
            </a:r>
          </a:p>
          <a:p>
            <a:pPr algn="l" marL="292608" indent="-292608">
              <a:lnSpc>
                <a:spcPct val="100000"/>
              </a:lnSpc>
              <a:spcAft>
                <a:spcPts val="1400"/>
              </a:spcAft>
              <a:buChar char="•"/>
            </a:pPr>
            <a:r>
              <a:rPr sz="2400" b="0">
                <a:solidFill>
                  <a:srgbClr val="1F2933"/>
                </a:solidFill>
                <a:latin typeface="Calibri"/>
              </a:rPr>
              <a:t>Usuario vet_app: solo lectura</a:t>
            </a:r>
          </a:p>
          <a:p>
            <a:pPr algn="l" marL="292608" indent="-292608">
              <a:lnSpc>
                <a:spcPct val="100000"/>
              </a:lnSpc>
              <a:spcAft>
                <a:spcPts val="1400"/>
              </a:spcAft>
              <a:buChar char="•"/>
            </a:pPr>
            <a:r>
              <a:rPr sz="2400" b="0">
                <a:solidFill>
                  <a:srgbClr val="1F2933"/>
                </a:solidFill>
                <a:latin typeface="Calibri"/>
              </a:rPr>
              <a:t>java -jar sigevet.jar, puerto 5000</a:t>
            </a:r>
          </a:p>
        </p:txBody>
      </p:sp>
      <p:pic>
        <p:nvPicPr>
          <p:cNvPr id="8" name="Picture 7" descr="clientes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828800"/>
            <a:ext cx="6126480" cy="3522726"/>
          </a:xfrm>
          <a:prstGeom prst="rect">
            <a:avLst/>
          </a:prstGeom>
          <a:ln w="12700">
            <a:solidFill>
              <a:srgbClr val="B8BFC6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0" y="5715000"/>
            <a:ext cx="61264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>
                <a:solidFill>
                  <a:srgbClr val="5B6670"/>
                </a:solidFill>
                <a:latin typeface="Calibri"/>
              </a:rPr>
              <a:t>Página de clientes de la aplicación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8813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B45309"/>
                </a:solidFill>
                <a:latin typeface="Calibri"/>
              </a:rPr>
              <a:t>PROGRAMACIÓN ORIENTADA A OBJETOS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1792"/>
            <a:ext cx="1088136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>
                <a:solidFill>
                  <a:srgbClr val="1F2933"/>
                </a:solidFill>
                <a:latin typeface="Calibri"/>
              </a:rPr>
              <a:t>Herencia y polimorfismo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481328"/>
            <a:ext cx="1097280" cy="0"/>
          </a:xfrm>
          <a:prstGeom prst="line">
            <a:avLst/>
          </a:prstGeom>
          <a:ln w="38100">
            <a:solidFill>
              <a:srgbClr val="B45309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5B6670"/>
                </a:solidFill>
                <a:latin typeface="Calibri"/>
              </a:rPr>
              <a:t>SIGEVET · Bases de Datos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5B6670"/>
                </a:solidFill>
                <a:latin typeface="Calibri"/>
              </a:rPr>
              <a:t>13</a:t>
            </a:r>
          </a:p>
        </p:txBody>
      </p:sp>
      <p:sp>
        <p:nvSpPr>
          <p:cNvPr id="7" name="Rectangle 6"/>
          <p:cNvSpPr/>
          <p:nvPr/>
        </p:nvSpPr>
        <p:spPr>
          <a:xfrm>
            <a:off x="1737360" y="1737360"/>
            <a:ext cx="2286000" cy="457200"/>
          </a:xfrm>
          <a:prstGeom prst="rect">
            <a:avLst/>
          </a:prstGeom>
          <a:noFill/>
          <a:ln w="19050">
            <a:solidFill>
              <a:srgbClr val="1F293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7360" y="1737360"/>
            <a:ext cx="22860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F2933"/>
                </a:solidFill>
                <a:latin typeface="Calibri"/>
              </a:rPr>
              <a:t>Persona (abstracta)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514600"/>
            <a:ext cx="1645920" cy="457200"/>
          </a:xfrm>
          <a:prstGeom prst="rect">
            <a:avLst/>
          </a:prstGeom>
          <a:noFill/>
          <a:ln w="19050">
            <a:solidFill>
              <a:srgbClr val="1F293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514600"/>
            <a:ext cx="164592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F2933"/>
                </a:solidFill>
                <a:latin typeface="Calibri"/>
              </a:rPr>
              <a:t>Cliente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2514600"/>
            <a:ext cx="1920240" cy="457200"/>
          </a:xfrm>
          <a:prstGeom prst="rect">
            <a:avLst/>
          </a:prstGeom>
          <a:noFill/>
          <a:ln w="19050">
            <a:solidFill>
              <a:srgbClr val="1F293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2514600"/>
            <a:ext cx="19202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F2933"/>
                </a:solidFill>
                <a:latin typeface="Calibri"/>
              </a:rPr>
              <a:t>Empleado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0" y="3291840"/>
            <a:ext cx="1737360" cy="457200"/>
          </a:xfrm>
          <a:prstGeom prst="rect">
            <a:avLst/>
          </a:prstGeom>
          <a:noFill/>
          <a:ln w="19050">
            <a:solidFill>
              <a:srgbClr val="1F293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0" y="3291840"/>
            <a:ext cx="173736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F2933"/>
                </a:solidFill>
                <a:latin typeface="Calibri"/>
              </a:rPr>
              <a:t>Veterinario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3440" y="3291840"/>
            <a:ext cx="1371600" cy="457200"/>
          </a:xfrm>
          <a:prstGeom prst="rect">
            <a:avLst/>
          </a:prstGeom>
          <a:noFill/>
          <a:ln w="19050">
            <a:solidFill>
              <a:srgbClr val="1F293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3440" y="3291840"/>
            <a:ext cx="13716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F2933"/>
                </a:solidFill>
                <a:latin typeface="Calibri"/>
              </a:rPr>
              <a:t>Auxiliar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1371600" y="2194560"/>
            <a:ext cx="1508760" cy="320040"/>
          </a:xfrm>
          <a:prstGeom prst="line">
            <a:avLst/>
          </a:prstGeom>
          <a:ln w="22225">
            <a:solidFill>
              <a:srgbClr val="1F2933"/>
            </a:solidFill>
            <a:tailEnd type="arrow" w="lg" len="lg"/>
          </a:ln>
        </p:spPr>
      </p:cxnSp>
      <p:cxnSp>
        <p:nvCxnSpPr>
          <p:cNvPr id="18" name="Connector 17"/>
          <p:cNvCxnSpPr/>
          <p:nvPr/>
        </p:nvCxnSpPr>
        <p:spPr>
          <a:xfrm flipH="1" flipV="1">
            <a:off x="2880360" y="2194560"/>
            <a:ext cx="1371600" cy="320040"/>
          </a:xfrm>
          <a:prstGeom prst="line">
            <a:avLst/>
          </a:prstGeom>
          <a:ln w="22225">
            <a:solidFill>
              <a:srgbClr val="1F2933"/>
            </a:solidFill>
            <a:tailEnd type="arrow" w="lg" len="lg"/>
          </a:ln>
        </p:spPr>
      </p:cxnSp>
      <p:cxnSp>
        <p:nvCxnSpPr>
          <p:cNvPr id="19" name="Connector 18"/>
          <p:cNvCxnSpPr/>
          <p:nvPr/>
        </p:nvCxnSpPr>
        <p:spPr>
          <a:xfrm flipV="1">
            <a:off x="3611880" y="2971800"/>
            <a:ext cx="640080" cy="320040"/>
          </a:xfrm>
          <a:prstGeom prst="line">
            <a:avLst/>
          </a:prstGeom>
          <a:ln w="22225">
            <a:solidFill>
              <a:srgbClr val="1F2933"/>
            </a:solidFill>
            <a:tailEnd type="arrow" w="lg" len="lg"/>
          </a:ln>
        </p:spPr>
      </p:cxnSp>
      <p:cxnSp>
        <p:nvCxnSpPr>
          <p:cNvPr id="20" name="Connector 19"/>
          <p:cNvCxnSpPr/>
          <p:nvPr/>
        </p:nvCxnSpPr>
        <p:spPr>
          <a:xfrm flipH="1" flipV="1">
            <a:off x="4251960" y="2971800"/>
            <a:ext cx="1097280" cy="320040"/>
          </a:xfrm>
          <a:prstGeom prst="line">
            <a:avLst/>
          </a:prstGeom>
          <a:ln w="22225">
            <a:solidFill>
              <a:srgbClr val="1F2933"/>
            </a:solidFill>
            <a:tailEnd type="arrow" w="lg" len="lg"/>
          </a:ln>
        </p:spPr>
      </p:cxnSp>
      <p:pic>
        <p:nvPicPr>
          <p:cNvPr id="21" name="Picture 20" descr="personal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023360"/>
            <a:ext cx="5394960" cy="2144767"/>
          </a:xfrm>
          <a:prstGeom prst="rect">
            <a:avLst/>
          </a:prstGeom>
          <a:ln w="12700">
            <a:solidFill>
              <a:srgbClr val="B8BFC6"/>
            </a:solidFill>
          </a:ln>
        </p:spPr>
      </p:pic>
      <p:sp>
        <p:nvSpPr>
          <p:cNvPr id="22" name="Rectangle 21"/>
          <p:cNvSpPr/>
          <p:nvPr/>
        </p:nvSpPr>
        <p:spPr>
          <a:xfrm>
            <a:off x="6400800" y="1737360"/>
            <a:ext cx="5212080" cy="2743200"/>
          </a:xfrm>
          <a:prstGeom prst="rect">
            <a:avLst/>
          </a:prstGeom>
          <a:noFill/>
          <a:ln w="19050">
            <a:solidFill>
              <a:srgbClr val="B8BFC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1783080"/>
            <a:ext cx="5029200" cy="2651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500" b="0">
                <a:solidFill>
                  <a:srgbClr val="1F2933"/>
                </a:solidFill>
                <a:latin typeface="Courier New"/>
              </a:rPr>
              <a:t>Empleado empleado;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500" b="0">
                <a:solidFill>
                  <a:srgbClr val="1F2933"/>
                </a:solidFill>
                <a:latin typeface="Courier New"/>
              </a:rPr>
              <a:t>if ("VET".equals(tipoEmpleado)) {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500" b="0">
                <a:solidFill>
                  <a:srgbClr val="1F2933"/>
                </a:solidFill>
                <a:latin typeface="Courier New"/>
              </a:rPr>
              <a:t>    empleado = new Veterinario();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500" b="0">
                <a:solidFill>
                  <a:srgbClr val="1F2933"/>
                </a:solidFill>
                <a:latin typeface="Courier New"/>
              </a:rPr>
              <a:t>} else if ("AUX".equals(tipoEmpleado)) {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500" b="0">
                <a:solidFill>
                  <a:srgbClr val="1F2933"/>
                </a:solidFill>
                <a:latin typeface="Courier New"/>
              </a:rPr>
              <a:t>    empleado = new Auxiliar();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500" b="0">
                <a:solidFill>
                  <a:srgbClr val="1F2933"/>
                </a:solidFill>
                <a:latin typeface="Courier New"/>
              </a:rPr>
              <a:t>} else {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500" b="0">
                <a:solidFill>
                  <a:srgbClr val="1F2933"/>
                </a:solidFill>
                <a:latin typeface="Courier New"/>
              </a:rPr>
              <a:t>    empleado = new Empleado();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500" b="0">
                <a:solidFill>
                  <a:srgbClr val="1F2933"/>
                </a:solidFill>
                <a:latin typeface="Courier New"/>
              </a:rPr>
              <a:t>}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709160"/>
            <a:ext cx="5212080" cy="1554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 marL="292608" indent="-292608">
              <a:lnSpc>
                <a:spcPct val="100000"/>
              </a:lnSpc>
              <a:spcAft>
                <a:spcPts val="800"/>
              </a:spcAft>
              <a:buChar char="•"/>
            </a:pPr>
            <a:r>
              <a:rPr sz="2000" b="0">
                <a:solidFill>
                  <a:srgbClr val="5B6670"/>
                </a:solidFill>
                <a:latin typeface="Calibri"/>
              </a:rPr>
              <a:t>Una sola lista de Empleado y tres versiones de getDescripcion()</a:t>
            </a:r>
          </a:p>
          <a:p>
            <a:pPr algn="l" marL="292608" indent="-292608">
              <a:lnSpc>
                <a:spcPct val="100000"/>
              </a:lnSpc>
              <a:spcAft>
                <a:spcPts val="800"/>
              </a:spcAft>
              <a:buChar char="•"/>
            </a:pPr>
            <a:r>
              <a:rPr sz="2000" b="0">
                <a:solidFill>
                  <a:srgbClr val="5B6670"/>
                </a:solidFill>
                <a:latin typeface="Calibri"/>
              </a:rPr>
              <a:t>La tabla de la izquierda sale de esa lista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8813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B45309"/>
                </a:solidFill>
                <a:latin typeface="Calibri"/>
              </a:rPr>
              <a:t>ÁLGEBRA RELACIONAL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1792"/>
            <a:ext cx="1088136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>
                <a:solidFill>
                  <a:srgbClr val="1F2933"/>
                </a:solidFill>
                <a:latin typeface="Calibri"/>
              </a:rPr>
              <a:t>55 ejercicios, mismo resultado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481328"/>
            <a:ext cx="1097280" cy="0"/>
          </a:xfrm>
          <a:prstGeom prst="line">
            <a:avLst/>
          </a:prstGeom>
          <a:ln w="38100">
            <a:solidFill>
              <a:srgbClr val="B45309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5B6670"/>
                </a:solidFill>
                <a:latin typeface="Calibri"/>
              </a:rPr>
              <a:t>SIGEVET · Bases de Datos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5B6670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3931920" cy="13716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6000" b="1">
                <a:solidFill>
                  <a:srgbClr val="B45309"/>
                </a:solidFill>
                <a:latin typeface="Calibri"/>
              </a:rPr>
              <a:t>55 de 55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3931920" cy="21945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400" b="0">
                <a:solidFill>
                  <a:srgbClr val="1F2933"/>
                </a:solidFill>
                <a:latin typeface="Calibri"/>
              </a:rPr>
              <a:t>consultas dan en MySQL el mismo resultado que en la Fase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1783080"/>
            <a:ext cx="667512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>
                <a:solidFill>
                  <a:srgbClr val="1F2933"/>
                </a:solidFill>
                <a:latin typeface="Calibri"/>
              </a:rPr>
              <a:t>Ejercicio 41: medicamentos en todas las sedes (división)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286000"/>
            <a:ext cx="667512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>
                <a:solidFill>
                  <a:srgbClr val="1F2933"/>
                </a:solidFill>
                <a:latin typeface="Calibri"/>
              </a:rPr>
              <a:t>T ← π id_medicamento, id_sede (INVENTARIO) ÷ π id_sede (SEDE)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>
                <a:solidFill>
                  <a:srgbClr val="1F2933"/>
                </a:solidFill>
                <a:latin typeface="Calibri"/>
              </a:rPr>
              <a:t>π id_medicamento, nombre (T ⋈ MEDICAMENTO)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37760" y="3246120"/>
            <a:ext cx="6675120" cy="2514600"/>
          </a:xfrm>
          <a:prstGeom prst="rect">
            <a:avLst/>
          </a:prstGeom>
          <a:noFill/>
          <a:ln w="19050">
            <a:solidFill>
              <a:srgbClr val="B8BFC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0" y="3291840"/>
            <a:ext cx="6492240" cy="24231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600" b="0">
                <a:solidFill>
                  <a:srgbClr val="1F2933"/>
                </a:solidFill>
                <a:latin typeface="Courier New"/>
              </a:rPr>
              <a:t>SELECT m.id_medicamento, m.nombre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600" b="0">
                <a:solidFill>
                  <a:srgbClr val="1F2933"/>
                </a:solidFill>
                <a:latin typeface="Courier New"/>
              </a:rPr>
              <a:t>FROM MEDICAMENTO m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600" b="0">
                <a:solidFill>
                  <a:srgbClr val="1F2933"/>
                </a:solidFill>
                <a:latin typeface="Courier New"/>
              </a:rPr>
              <a:t>WHERE NOT EXISTS (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600" b="0">
                <a:solidFill>
                  <a:srgbClr val="1F2933"/>
                </a:solidFill>
                <a:latin typeface="Courier New"/>
              </a:rPr>
              <a:t>  SELECT s.id_sede FROM SEDE s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600" b="0">
                <a:solidFill>
                  <a:srgbClr val="1F2933"/>
                </a:solidFill>
                <a:latin typeface="Courier New"/>
              </a:rPr>
              <a:t>  WHERE NOT EXISTS (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600" b="0">
                <a:solidFill>
                  <a:srgbClr val="1F2933"/>
                </a:solidFill>
                <a:latin typeface="Courier New"/>
              </a:rPr>
              <a:t>    SELECT 1 FROM INVENTARIO i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600" b="0">
                <a:solidFill>
                  <a:srgbClr val="1F2933"/>
                </a:solidFill>
                <a:latin typeface="Courier New"/>
              </a:rPr>
              <a:t>    WHERE i.id_sede = s.id_sede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600" b="0">
                <a:solidFill>
                  <a:srgbClr val="1F2933"/>
                </a:solidFill>
                <a:latin typeface="Courier New"/>
              </a:rPr>
              <a:t>      AND i.id_medicamento = m.id_medicamento));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5852160"/>
            <a:ext cx="667512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>
                <a:solidFill>
                  <a:srgbClr val="5B6670"/>
                </a:solidFill>
                <a:latin typeface="Calibri"/>
              </a:rPr>
              <a:t>Resultado: 8 medicamentos que están en las 5 sedes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8813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B45309"/>
                </a:solidFill>
                <a:latin typeface="Calibri"/>
              </a:rPr>
              <a:t>EQUIPO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1792"/>
            <a:ext cx="1088136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>
                <a:solidFill>
                  <a:srgbClr val="1F2933"/>
                </a:solidFill>
                <a:latin typeface="Calibri"/>
              </a:rPr>
              <a:t>Equipo y cierre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481328"/>
            <a:ext cx="1097280" cy="0"/>
          </a:xfrm>
          <a:prstGeom prst="line">
            <a:avLst/>
          </a:prstGeom>
          <a:ln w="38100">
            <a:solidFill>
              <a:srgbClr val="B45309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5B6670"/>
                </a:solidFill>
                <a:latin typeface="Calibri"/>
              </a:rPr>
              <a:t>SIGEVET · Bases de Datos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5B6670"/>
                </a:solidFill>
                <a:latin typeface="Calibri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868680"/>
          </a:xfrm>
          <a:prstGeom prst="roundRect">
            <a:avLst>
              <a:gd name="adj" fmla="val 6000"/>
            </a:avLst>
          </a:prstGeom>
          <a:noFill/>
          <a:ln w="22225">
            <a:solidFill>
              <a:srgbClr val="B8BFC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5120640" cy="8686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1F2933"/>
                </a:solidFill>
                <a:latin typeface="Calibri"/>
              </a:rPr>
              <a:t>Juan David Polo Herrera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828800"/>
            <a:ext cx="5303520" cy="8686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400" b="0">
                <a:solidFill>
                  <a:srgbClr val="5B6670"/>
                </a:solidFill>
                <a:latin typeface="Calibri"/>
              </a:rPr>
              <a:t>Gerente del proyecto y DBA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880360"/>
            <a:ext cx="10881360" cy="868680"/>
          </a:xfrm>
          <a:prstGeom prst="roundRect">
            <a:avLst>
              <a:gd name="adj" fmla="val 6000"/>
            </a:avLst>
          </a:prstGeom>
          <a:noFill/>
          <a:ln w="22225">
            <a:solidFill>
              <a:srgbClr val="B8BFC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880360"/>
            <a:ext cx="5120640" cy="8686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1F2933"/>
                </a:solidFill>
                <a:latin typeface="Calibri"/>
              </a:rPr>
              <a:t>Sebastián Castellanos Parra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880360"/>
            <a:ext cx="5303520" cy="8686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400" b="0">
                <a:solidFill>
                  <a:srgbClr val="5B6670"/>
                </a:solidFill>
                <a:latin typeface="Calibri"/>
              </a:rPr>
              <a:t>Analista y modelador de datos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931920"/>
            <a:ext cx="10881360" cy="868680"/>
          </a:xfrm>
          <a:prstGeom prst="roundRect">
            <a:avLst>
              <a:gd name="adj" fmla="val 6000"/>
            </a:avLst>
          </a:prstGeom>
          <a:noFill/>
          <a:ln w="22225">
            <a:solidFill>
              <a:srgbClr val="B8BFC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931920"/>
            <a:ext cx="5120640" cy="8686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1F2933"/>
                </a:solidFill>
                <a:latin typeface="Calibri"/>
              </a:rPr>
              <a:t>Juan Miguel Ramos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3931920"/>
            <a:ext cx="5303520" cy="8686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400" b="0">
                <a:solidFill>
                  <a:srgbClr val="5B6670"/>
                </a:solidFill>
                <a:latin typeface="Calibri"/>
              </a:rPr>
              <a:t>Desarrollador web e infraestructura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257800"/>
            <a:ext cx="1088136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>
                <a:solidFill>
                  <a:srgbClr val="B45309"/>
                </a:solidFill>
                <a:latin typeface="Calibri"/>
              </a:rPr>
              <a:t>Gracias. Ahora, demo y preguntas.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>
                <a:solidFill>
                  <a:srgbClr val="5B6670"/>
                </a:solidFill>
                <a:latin typeface="Calibri"/>
              </a:rPr>
              <a:t>MySQL Workbench · aplicación web · scripts en la VM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SIGEVET - Presentación de sustentación</dc:title>
  <dc:subject>Bases de Datos 1 - Universidad El Bosque</dc:subject>
  <dc:creator>Equipo SIGEVET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